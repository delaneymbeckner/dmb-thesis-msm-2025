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9"/>
  </p:notesMasterIdLst>
  <p:sldIdLst>
    <p:sldId id="258" r:id="rId2"/>
    <p:sldId id="259" r:id="rId3"/>
    <p:sldId id="260" r:id="rId4"/>
    <p:sldId id="261" r:id="rId5"/>
    <p:sldId id="265" r:id="rId6"/>
    <p:sldId id="263" r:id="rId7"/>
    <p:sldId id="267" r:id="rId8"/>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2A6D"/>
    <a:srgbClr val="009B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726"/>
  </p:normalViewPr>
  <p:slideViewPr>
    <p:cSldViewPr snapToGrid="0">
      <p:cViewPr varScale="1">
        <p:scale>
          <a:sx n="56" d="100"/>
          <a:sy n="56" d="100"/>
        </p:scale>
        <p:origin x="1013"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B70398-35C3-8743-804E-AB5AE190B12E}" type="datetimeFigureOut">
              <a:rPr lang="en-US" smtClean="0"/>
              <a:t>6/15/2026</a:t>
            </a:fld>
            <a:endParaRPr lang="en-US"/>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24400E-FF37-1A44-95F8-2B444AC24A88}" type="slidenum">
              <a:rPr lang="en-US" smtClean="0"/>
              <a:t>‹#›</a:t>
            </a:fld>
            <a:endParaRPr lang="en-US"/>
          </a:p>
        </p:txBody>
      </p:sp>
    </p:spTree>
    <p:extLst>
      <p:ext uri="{BB962C8B-B14F-4D97-AF65-F5344CB8AC3E}">
        <p14:creationId xmlns:p14="http://schemas.microsoft.com/office/powerpoint/2010/main" val="1662634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24400E-FF37-1A44-95F8-2B444AC24A88}" type="slidenum">
              <a:rPr lang="en-US" smtClean="0"/>
              <a:t>1</a:t>
            </a:fld>
            <a:endParaRPr lang="en-US"/>
          </a:p>
        </p:txBody>
      </p:sp>
    </p:spTree>
    <p:extLst>
      <p:ext uri="{BB962C8B-B14F-4D97-AF65-F5344CB8AC3E}">
        <p14:creationId xmlns:p14="http://schemas.microsoft.com/office/powerpoint/2010/main" val="2898768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5E831BEE-0761-14F0-AE6F-DF93C37E7FE8}"/>
              </a:ext>
            </a:extLst>
          </p:cNvPr>
          <p:cNvSpPr>
            <a:spLocks noGrp="1" noRot="1" noMove="1" noResize="1" noEditPoints="1" noAdjustHandles="1" noChangeArrowheads="1" noChangeShapeType="1"/>
          </p:cNvSpPr>
          <p:nvPr>
            <p:ph sz="half" idx="1" hasCustomPrompt="1"/>
          </p:nvPr>
        </p:nvSpPr>
        <p:spPr>
          <a:xfrm>
            <a:off x="457200" y="1724755"/>
            <a:ext cx="4114800" cy="1251285"/>
          </a:xfrm>
          <a:prstGeom prst="rect">
            <a:avLst/>
          </a:prstGeom>
        </p:spPr>
        <p:txBody>
          <a:bodyPr/>
          <a:lstStyle>
            <a:lvl1pPr marL="0" indent="0">
              <a:lnSpc>
                <a:spcPts val="4360"/>
              </a:lnSpc>
              <a:spcBef>
                <a:spcPts val="0"/>
              </a:spcBef>
              <a:buFontTx/>
              <a:buNone/>
              <a:defRPr sz="4800" b="1" i="0">
                <a:solidFill>
                  <a:srgbClr val="009BDF"/>
                </a:solidFill>
                <a:latin typeface="Arial" panose="020B0604020202020204" pitchFamily="34" charset="0"/>
                <a:cs typeface="Arial" panose="020B0604020202020204" pitchFamily="34" charset="0"/>
              </a:defRPr>
            </a:lvl1pPr>
            <a:lvl2pPr>
              <a:defRPr>
                <a:solidFill>
                  <a:schemeClr val="tx2">
                    <a:lumMod val="75000"/>
                  </a:schemeClr>
                </a:solidFill>
              </a:defRPr>
            </a:lvl2pPr>
            <a:lvl3pPr>
              <a:defRPr>
                <a:solidFill>
                  <a:schemeClr val="tx2">
                    <a:lumMod val="75000"/>
                  </a:schemeClr>
                </a:solidFill>
              </a:defRPr>
            </a:lvl3pPr>
            <a:lvl4pPr>
              <a:defRPr>
                <a:solidFill>
                  <a:schemeClr val="tx2">
                    <a:lumMod val="75000"/>
                  </a:schemeClr>
                </a:solidFill>
              </a:defRPr>
            </a:lvl4pPr>
            <a:lvl5pPr>
              <a:defRPr>
                <a:solidFill>
                  <a:schemeClr val="tx2">
                    <a:lumMod val="75000"/>
                  </a:schemeClr>
                </a:solidFill>
              </a:defRPr>
            </a:lvl5pPr>
          </a:lstStyle>
          <a:p>
            <a:pPr lvl="0"/>
            <a:r>
              <a:rPr lang="en-US" dirty="0"/>
              <a:t>Dissertation Defense</a:t>
            </a:r>
          </a:p>
        </p:txBody>
      </p:sp>
      <p:sp>
        <p:nvSpPr>
          <p:cNvPr id="10" name="Content Placeholder 2">
            <a:extLst>
              <a:ext uri="{FF2B5EF4-FFF2-40B4-BE49-F238E27FC236}">
                <a16:creationId xmlns:a16="http://schemas.microsoft.com/office/drawing/2014/main" id="{D7355DF6-C149-E6D1-0AA0-651DE8A97A39}"/>
              </a:ext>
            </a:extLst>
          </p:cNvPr>
          <p:cNvSpPr>
            <a:spLocks noGrp="1" noRot="1" noMove="1" noResize="1" noEditPoints="1" noAdjustHandles="1" noChangeArrowheads="1" noChangeShapeType="1"/>
          </p:cNvSpPr>
          <p:nvPr>
            <p:ph sz="half" idx="10" hasCustomPrompt="1"/>
          </p:nvPr>
        </p:nvSpPr>
        <p:spPr>
          <a:xfrm>
            <a:off x="457200" y="2976040"/>
            <a:ext cx="4114800" cy="337802"/>
          </a:xfrm>
          <a:prstGeom prst="rect">
            <a:avLst/>
          </a:prstGeom>
        </p:spPr>
        <p:txBody>
          <a:bodyPr/>
          <a:lstStyle>
            <a:lvl1pPr marL="0" indent="0">
              <a:lnSpc>
                <a:spcPct val="100000"/>
              </a:lnSpc>
              <a:spcBef>
                <a:spcPts val="0"/>
              </a:spcBef>
              <a:buFontTx/>
              <a:buNone/>
              <a:defRPr sz="1800" b="0" i="0">
                <a:solidFill>
                  <a:schemeClr val="tx1"/>
                </a:solidFill>
                <a:latin typeface="Arial" panose="020B0604020202020204" pitchFamily="34" charset="0"/>
                <a:cs typeface="Arial" panose="020B0604020202020204" pitchFamily="34" charset="0"/>
              </a:defRPr>
            </a:lvl1pPr>
            <a:lvl2pPr>
              <a:defRPr>
                <a:solidFill>
                  <a:schemeClr val="tx2">
                    <a:lumMod val="75000"/>
                  </a:schemeClr>
                </a:solidFill>
              </a:defRPr>
            </a:lvl2pPr>
            <a:lvl3pPr>
              <a:defRPr>
                <a:solidFill>
                  <a:schemeClr val="tx2">
                    <a:lumMod val="75000"/>
                  </a:schemeClr>
                </a:solidFill>
              </a:defRPr>
            </a:lvl3pPr>
            <a:lvl4pPr>
              <a:defRPr>
                <a:solidFill>
                  <a:schemeClr val="tx2">
                    <a:lumMod val="75000"/>
                  </a:schemeClr>
                </a:solidFill>
              </a:defRPr>
            </a:lvl4pPr>
            <a:lvl5pPr>
              <a:defRPr>
                <a:solidFill>
                  <a:schemeClr val="tx2">
                    <a:lumMod val="75000"/>
                  </a:schemeClr>
                </a:solidFill>
              </a:defRPr>
            </a:lvl5pPr>
          </a:lstStyle>
          <a:p>
            <a:pPr lvl="0"/>
            <a:r>
              <a:rPr lang="en-US" dirty="0"/>
              <a:t>November 19, 2024  |  3 PM  |  B219</a:t>
            </a:r>
          </a:p>
        </p:txBody>
      </p:sp>
      <p:sp>
        <p:nvSpPr>
          <p:cNvPr id="14" name="Content Placeholder 3">
            <a:extLst>
              <a:ext uri="{FF2B5EF4-FFF2-40B4-BE49-F238E27FC236}">
                <a16:creationId xmlns:a16="http://schemas.microsoft.com/office/drawing/2014/main" id="{2AAC4ADC-4F7A-FDB0-D64D-48E0044A2234}"/>
              </a:ext>
            </a:extLst>
          </p:cNvPr>
          <p:cNvSpPr>
            <a:spLocks noGrp="1" noRot="1" noMove="1" noResize="1" noEditPoints="1" noAdjustHandles="1" noChangeArrowheads="1" noChangeShapeType="1"/>
          </p:cNvSpPr>
          <p:nvPr>
            <p:ph sz="half" idx="2" hasCustomPrompt="1"/>
          </p:nvPr>
        </p:nvSpPr>
        <p:spPr>
          <a:xfrm>
            <a:off x="457200" y="4085632"/>
            <a:ext cx="6858000" cy="1025211"/>
          </a:xfrm>
          <a:prstGeom prst="rect">
            <a:avLst/>
          </a:prstGeom>
        </p:spPr>
        <p:txBody>
          <a:bodyPr/>
          <a:lstStyle>
            <a:lvl1pPr marL="0" indent="0">
              <a:buNone/>
              <a:defRPr sz="2300" i="1">
                <a:solidFill>
                  <a:srgbClr val="009BDF"/>
                </a:solidFill>
                <a:latin typeface="Arial" panose="020B0604020202020204" pitchFamily="34" charset="0"/>
                <a:cs typeface="Arial" panose="020B0604020202020204" pitchFamily="34" charset="0"/>
              </a:defRPr>
            </a:lvl1pPr>
            <a:lvl2pPr>
              <a:defRPr sz="2200">
                <a:solidFill>
                  <a:schemeClr val="tx2">
                    <a:lumMod val="75000"/>
                  </a:schemeClr>
                </a:solidFill>
              </a:defRPr>
            </a:lvl2pPr>
            <a:lvl3pPr>
              <a:defRPr sz="2200">
                <a:solidFill>
                  <a:schemeClr val="tx2">
                    <a:lumMod val="75000"/>
                  </a:schemeClr>
                </a:solidFill>
              </a:defRPr>
            </a:lvl3pPr>
            <a:lvl4pPr>
              <a:defRPr sz="2200">
                <a:solidFill>
                  <a:schemeClr val="tx2">
                    <a:lumMod val="75000"/>
                  </a:schemeClr>
                </a:solidFill>
              </a:defRPr>
            </a:lvl4pPr>
            <a:lvl5pPr>
              <a:defRPr sz="2200">
                <a:solidFill>
                  <a:schemeClr val="tx2">
                    <a:lumMod val="75000"/>
                  </a:schemeClr>
                </a:solidFill>
              </a:defRPr>
            </a:lvl5pPr>
          </a:lstStyle>
          <a:p>
            <a:pPr lvl="0"/>
            <a:r>
              <a:rPr lang="en-US" dirty="0"/>
              <a:t>Molecular Insights into the Tumor Immune Microenvironment and Subtype-Specific </a:t>
            </a:r>
            <a:br>
              <a:rPr lang="en-US" dirty="0"/>
            </a:br>
            <a:r>
              <a:rPr lang="en-US" dirty="0"/>
              <a:t>Signatures of High-Grade Serous Ovarian Cancer</a:t>
            </a:r>
          </a:p>
        </p:txBody>
      </p:sp>
      <p:sp>
        <p:nvSpPr>
          <p:cNvPr id="18" name="Content Placeholder 3">
            <a:extLst>
              <a:ext uri="{FF2B5EF4-FFF2-40B4-BE49-F238E27FC236}">
                <a16:creationId xmlns:a16="http://schemas.microsoft.com/office/drawing/2014/main" id="{C5EC1FDF-A996-1416-D855-DF3954794973}"/>
              </a:ext>
            </a:extLst>
          </p:cNvPr>
          <p:cNvSpPr>
            <a:spLocks noGrp="1" noRot="1" noMove="1" noResize="1" noEditPoints="1" noAdjustHandles="1" noChangeArrowheads="1" noChangeShapeType="1"/>
          </p:cNvSpPr>
          <p:nvPr>
            <p:ph sz="half" idx="11" hasCustomPrompt="1"/>
          </p:nvPr>
        </p:nvSpPr>
        <p:spPr>
          <a:xfrm>
            <a:off x="457200" y="5449070"/>
            <a:ext cx="6858000" cy="323082"/>
          </a:xfrm>
          <a:prstGeom prst="rect">
            <a:avLst/>
          </a:prstGeom>
        </p:spPr>
        <p:txBody>
          <a:bodyPr/>
          <a:lstStyle>
            <a:lvl1pPr marL="0" indent="0">
              <a:buNone/>
              <a:defRPr sz="2300" b="1" i="0">
                <a:solidFill>
                  <a:srgbClr val="009BDF"/>
                </a:solidFill>
                <a:latin typeface="Arial" panose="020B0604020202020204" pitchFamily="34" charset="0"/>
                <a:cs typeface="Arial" panose="020B0604020202020204" pitchFamily="34" charset="0"/>
              </a:defRPr>
            </a:lvl1pPr>
            <a:lvl2pPr>
              <a:defRPr sz="2200">
                <a:solidFill>
                  <a:schemeClr val="tx2">
                    <a:lumMod val="75000"/>
                  </a:schemeClr>
                </a:solidFill>
              </a:defRPr>
            </a:lvl2pPr>
            <a:lvl3pPr>
              <a:defRPr sz="2200">
                <a:solidFill>
                  <a:schemeClr val="tx2">
                    <a:lumMod val="75000"/>
                  </a:schemeClr>
                </a:solidFill>
              </a:defRPr>
            </a:lvl3pPr>
            <a:lvl4pPr>
              <a:defRPr sz="2200">
                <a:solidFill>
                  <a:schemeClr val="tx2">
                    <a:lumMod val="75000"/>
                  </a:schemeClr>
                </a:solidFill>
              </a:defRPr>
            </a:lvl4pPr>
            <a:lvl5pPr>
              <a:defRPr sz="2200">
                <a:solidFill>
                  <a:schemeClr val="tx2">
                    <a:lumMod val="75000"/>
                  </a:schemeClr>
                </a:solidFill>
              </a:defRPr>
            </a:lvl5pPr>
          </a:lstStyle>
          <a:p>
            <a:pPr lvl="0"/>
            <a:r>
              <a:rPr lang="en-US" dirty="0"/>
              <a:t>Kaylin Carey, PhD Candidate </a:t>
            </a:r>
          </a:p>
        </p:txBody>
      </p:sp>
      <p:sp>
        <p:nvSpPr>
          <p:cNvPr id="19" name="Content Placeholder 3">
            <a:extLst>
              <a:ext uri="{FF2B5EF4-FFF2-40B4-BE49-F238E27FC236}">
                <a16:creationId xmlns:a16="http://schemas.microsoft.com/office/drawing/2014/main" id="{1938273F-671B-CDD9-2B38-57741FB587EE}"/>
              </a:ext>
            </a:extLst>
          </p:cNvPr>
          <p:cNvSpPr>
            <a:spLocks noGrp="1" noRot="1" noMove="1" noResize="1" noEditPoints="1" noAdjustHandles="1" noChangeArrowheads="1" noChangeShapeType="1"/>
          </p:cNvSpPr>
          <p:nvPr>
            <p:ph sz="half" idx="12" hasCustomPrompt="1"/>
          </p:nvPr>
        </p:nvSpPr>
        <p:spPr>
          <a:xfrm>
            <a:off x="457200" y="5857284"/>
            <a:ext cx="6858000" cy="1343616"/>
          </a:xfrm>
          <a:prstGeom prst="rect">
            <a:avLst/>
          </a:prstGeom>
        </p:spPr>
        <p:txBody>
          <a:bodyPr/>
          <a:lstStyle>
            <a:lvl1pPr marL="0" indent="0">
              <a:buNone/>
              <a:defRPr sz="1400" b="0" i="0">
                <a:solidFill>
                  <a:schemeClr val="tx1"/>
                </a:solidFill>
                <a:latin typeface="Arial" panose="020B0604020202020204" pitchFamily="34" charset="0"/>
                <a:cs typeface="Arial" panose="020B0604020202020204" pitchFamily="34" charset="0"/>
              </a:defRPr>
            </a:lvl1pPr>
            <a:lvl2pPr>
              <a:defRPr sz="2200">
                <a:solidFill>
                  <a:schemeClr val="tx2">
                    <a:lumMod val="75000"/>
                  </a:schemeClr>
                </a:solidFill>
              </a:defRPr>
            </a:lvl2pPr>
            <a:lvl3pPr>
              <a:defRPr sz="2200">
                <a:solidFill>
                  <a:schemeClr val="tx2">
                    <a:lumMod val="75000"/>
                  </a:schemeClr>
                </a:solidFill>
              </a:defRPr>
            </a:lvl3pPr>
            <a:lvl4pPr>
              <a:defRPr sz="2200">
                <a:solidFill>
                  <a:schemeClr val="tx2">
                    <a:lumMod val="75000"/>
                  </a:schemeClr>
                </a:solidFill>
              </a:defRPr>
            </a:lvl4pPr>
            <a:lvl5pPr>
              <a:defRPr sz="2200">
                <a:solidFill>
                  <a:schemeClr val="tx2">
                    <a:lumMod val="75000"/>
                  </a:schemeClr>
                </a:solidFill>
              </a:defRPr>
            </a:lvl5pPr>
          </a:lstStyle>
          <a:p>
            <a:pPr lvl="0"/>
            <a:r>
              <a:rPr lang="en-US" dirty="0"/>
              <a:t>In partial fulfillment of the requirements for the degree</a:t>
            </a:r>
            <a:br>
              <a:rPr lang="en-US" dirty="0"/>
            </a:br>
            <a:r>
              <a:rPr lang="en-US" dirty="0"/>
              <a:t>Doctor of Philosophy in Biomedical Sciences</a:t>
            </a:r>
            <a:br>
              <a:rPr lang="en-US" dirty="0"/>
            </a:br>
            <a:br>
              <a:rPr lang="en-US" dirty="0"/>
            </a:br>
            <a:r>
              <a:rPr lang="en-US" dirty="0"/>
              <a:t>Under the direction of </a:t>
            </a:r>
            <a:br>
              <a:rPr lang="en-US" dirty="0"/>
            </a:br>
            <a:r>
              <a:rPr lang="en-US" dirty="0"/>
              <a:t>James W. Lillard Jr., PhD, MBA</a:t>
            </a:r>
            <a:br>
              <a:rPr lang="en-US" dirty="0"/>
            </a:br>
            <a:r>
              <a:rPr lang="en-US" dirty="0"/>
              <a:t>Professor &amp; Senior Associate Dean for Research, Innovation &amp; Commercialization</a:t>
            </a:r>
          </a:p>
        </p:txBody>
      </p:sp>
      <p:sp>
        <p:nvSpPr>
          <p:cNvPr id="21" name="Content Placeholder 3">
            <a:extLst>
              <a:ext uri="{FF2B5EF4-FFF2-40B4-BE49-F238E27FC236}">
                <a16:creationId xmlns:a16="http://schemas.microsoft.com/office/drawing/2014/main" id="{5A592700-6C48-1B4B-68ED-2001283837F6}"/>
              </a:ext>
            </a:extLst>
          </p:cNvPr>
          <p:cNvSpPr>
            <a:spLocks noGrp="1" noRot="1" noMove="1" noResize="1" noEditPoints="1" noAdjustHandles="1" noChangeArrowheads="1" noChangeShapeType="1"/>
          </p:cNvSpPr>
          <p:nvPr>
            <p:ph sz="half" idx="13" hasCustomPrompt="1"/>
          </p:nvPr>
        </p:nvSpPr>
        <p:spPr>
          <a:xfrm>
            <a:off x="457200" y="7438111"/>
            <a:ext cx="6858000" cy="1343616"/>
          </a:xfrm>
          <a:prstGeom prst="rect">
            <a:avLst/>
          </a:prstGeom>
        </p:spPr>
        <p:txBody>
          <a:bodyPr/>
          <a:lstStyle>
            <a:lvl1pPr marL="0" indent="0">
              <a:buNone/>
              <a:defRPr sz="1400" b="0" i="0">
                <a:solidFill>
                  <a:schemeClr val="tx1"/>
                </a:solidFill>
                <a:latin typeface="Arial" panose="020B0604020202020204" pitchFamily="34" charset="0"/>
                <a:cs typeface="Arial" panose="020B0604020202020204" pitchFamily="34" charset="0"/>
              </a:defRPr>
            </a:lvl1pPr>
            <a:lvl2pPr>
              <a:defRPr sz="2200">
                <a:solidFill>
                  <a:schemeClr val="tx2">
                    <a:lumMod val="75000"/>
                  </a:schemeClr>
                </a:solidFill>
              </a:defRPr>
            </a:lvl2pPr>
            <a:lvl3pPr>
              <a:defRPr sz="2200">
                <a:solidFill>
                  <a:schemeClr val="tx2">
                    <a:lumMod val="75000"/>
                  </a:schemeClr>
                </a:solidFill>
              </a:defRPr>
            </a:lvl3pPr>
            <a:lvl4pPr>
              <a:defRPr sz="2200">
                <a:solidFill>
                  <a:schemeClr val="tx2">
                    <a:lumMod val="75000"/>
                  </a:schemeClr>
                </a:solidFill>
              </a:defRPr>
            </a:lvl4pPr>
            <a:lvl5pPr>
              <a:defRPr sz="2200">
                <a:solidFill>
                  <a:schemeClr val="tx2">
                    <a:lumMod val="75000"/>
                  </a:schemeClr>
                </a:solidFill>
              </a:defRPr>
            </a:lvl5pPr>
          </a:lstStyle>
          <a:p>
            <a:pPr lvl="0"/>
            <a:r>
              <a:rPr lang="en-US" dirty="0"/>
              <a:t>Zoom Link: https://</a:t>
            </a:r>
            <a:r>
              <a:rPr lang="en-US" dirty="0" err="1"/>
              <a:t>msm-edu.zoom.us</a:t>
            </a:r>
            <a:r>
              <a:rPr lang="en-US" dirty="0"/>
              <a:t>/j/94162501240</a:t>
            </a:r>
            <a:br>
              <a:rPr lang="en-US" dirty="0"/>
            </a:br>
            <a:r>
              <a:rPr lang="en-US" dirty="0"/>
              <a:t>Meeting ID: 941 6250 1240</a:t>
            </a:r>
            <a:br>
              <a:rPr lang="en-US" dirty="0"/>
            </a:br>
            <a:r>
              <a:rPr lang="en-US" dirty="0"/>
              <a:t>In person attendance is preferred.</a:t>
            </a:r>
          </a:p>
        </p:txBody>
      </p:sp>
      <p:sp>
        <p:nvSpPr>
          <p:cNvPr id="22" name="Picture Placeholder 2">
            <a:extLst>
              <a:ext uri="{FF2B5EF4-FFF2-40B4-BE49-F238E27FC236}">
                <a16:creationId xmlns:a16="http://schemas.microsoft.com/office/drawing/2014/main" id="{168FC787-376B-8701-F4EA-29E6AEE6D77B}"/>
              </a:ext>
            </a:extLst>
          </p:cNvPr>
          <p:cNvSpPr>
            <a:spLocks noGrp="1" noRot="1" noMove="1" noResize="1" noEditPoints="1" noAdjustHandles="1" noChangeArrowheads="1" noChangeShapeType="1"/>
          </p:cNvSpPr>
          <p:nvPr>
            <p:ph type="pic" idx="14" hasCustomPrompt="1"/>
          </p:nvPr>
        </p:nvSpPr>
        <p:spPr>
          <a:xfrm>
            <a:off x="4939862" y="1333500"/>
            <a:ext cx="2375338" cy="2413905"/>
          </a:xfrm>
          <a:prstGeom prst="rect">
            <a:avLst/>
          </a:prstGeom>
        </p:spPr>
        <p:txBody>
          <a:bodyPr anchor="ctr" anchorCtr="0"/>
          <a:lstStyle>
            <a:lvl1pPr marL="0" indent="0" algn="ctr">
              <a:buNone/>
              <a:defRPr sz="3200" b="0">
                <a:solidFill>
                  <a:schemeClr val="tx2">
                    <a:lumMod val="7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Photo Here</a:t>
            </a:r>
          </a:p>
        </p:txBody>
      </p:sp>
      <p:cxnSp>
        <p:nvCxnSpPr>
          <p:cNvPr id="26" name="Straight Connector 25">
            <a:extLst>
              <a:ext uri="{FF2B5EF4-FFF2-40B4-BE49-F238E27FC236}">
                <a16:creationId xmlns:a16="http://schemas.microsoft.com/office/drawing/2014/main" id="{B32EC3B0-AC9A-500A-05F6-F2B2BB75871D}"/>
              </a:ext>
            </a:extLst>
          </p:cNvPr>
          <p:cNvCxnSpPr/>
          <p:nvPr userDrawn="1"/>
        </p:nvCxnSpPr>
        <p:spPr>
          <a:xfrm flipH="1">
            <a:off x="457200" y="3747405"/>
            <a:ext cx="6858000" cy="0"/>
          </a:xfrm>
          <a:prstGeom prst="line">
            <a:avLst/>
          </a:prstGeom>
          <a:ln>
            <a:solidFill>
              <a:srgbClr val="092A6D"/>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78846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A blue and white logo&#10;&#10;AI-generated content may be incorrect.">
            <a:extLst>
              <a:ext uri="{FF2B5EF4-FFF2-40B4-BE49-F238E27FC236}">
                <a16:creationId xmlns:a16="http://schemas.microsoft.com/office/drawing/2014/main" id="{B26FB2EE-92B0-4B29-25F5-95FD41C12249}"/>
              </a:ext>
            </a:extLst>
          </p:cNvPr>
          <p:cNvPicPr>
            <a:picLocks noChangeAspect="1"/>
          </p:cNvPicPr>
          <p:nvPr userDrawn="1"/>
        </p:nvPicPr>
        <p:blipFill>
          <a:blip r:embed="rId3"/>
          <a:stretch>
            <a:fillRect/>
          </a:stretch>
        </p:blipFill>
        <p:spPr>
          <a:xfrm>
            <a:off x="0" y="0"/>
            <a:ext cx="7772400" cy="10058400"/>
          </a:xfrm>
          <a:prstGeom prst="rect">
            <a:avLst/>
          </a:prstGeom>
        </p:spPr>
      </p:pic>
      <p:sp>
        <p:nvSpPr>
          <p:cNvPr id="9" name="Rectangle 8">
            <a:extLst>
              <a:ext uri="{FF2B5EF4-FFF2-40B4-BE49-F238E27FC236}">
                <a16:creationId xmlns:a16="http://schemas.microsoft.com/office/drawing/2014/main" id="{DFE56258-1E1A-3F03-30A9-2D747E32692E}"/>
              </a:ext>
            </a:extLst>
          </p:cNvPr>
          <p:cNvSpPr/>
          <p:nvPr userDrawn="1"/>
        </p:nvSpPr>
        <p:spPr>
          <a:xfrm>
            <a:off x="7030948" y="1333499"/>
            <a:ext cx="284252" cy="284252"/>
          </a:xfrm>
          <a:prstGeom prst="rect">
            <a:avLst/>
          </a:prstGeom>
          <a:solidFill>
            <a:srgbClr val="092A6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4557911"/>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777240" rtl="0" eaLnBrk="1" latinLnBrk="0" hangingPunct="1">
        <a:lnSpc>
          <a:spcPct val="90000"/>
        </a:lnSpc>
        <a:spcBef>
          <a:spcPct val="0"/>
        </a:spcBef>
        <a:buNone/>
        <a:defRPr sz="3740" kern="1200">
          <a:solidFill>
            <a:schemeClr val="tx1"/>
          </a:solidFill>
          <a:latin typeface="+mj-lt"/>
          <a:ea typeface="+mj-ea"/>
          <a:cs typeface="+mj-cs"/>
        </a:defRPr>
      </a:lvl1pPr>
    </p:titleStyle>
    <p:bodyStyle>
      <a:lvl1pPr marL="194310" indent="-194310" algn="l" defTabSz="777240"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36" userDrawn="1">
          <p15:clr>
            <a:srgbClr val="F26B43"/>
          </p15:clr>
        </p15:guide>
        <p15:guide id="2" pos="288" userDrawn="1">
          <p15:clr>
            <a:srgbClr val="F26B43"/>
          </p15:clr>
        </p15:guide>
        <p15:guide id="3" pos="4608" userDrawn="1">
          <p15:clr>
            <a:srgbClr val="F26B43"/>
          </p15:clr>
        </p15:guide>
        <p15:guide id="4" orient="horz" pos="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AAF3D09-BFAE-1FC6-E9D6-C763B2F929A3}"/>
              </a:ext>
            </a:extLst>
          </p:cNvPr>
          <p:cNvSpPr>
            <a:spLocks noGrp="1"/>
          </p:cNvSpPr>
          <p:nvPr>
            <p:ph sz="half" idx="1"/>
          </p:nvPr>
        </p:nvSpPr>
        <p:spPr>
          <a:xfrm>
            <a:off x="457200" y="1714197"/>
            <a:ext cx="4114800" cy="1251285"/>
          </a:xfrm>
        </p:spPr>
        <p:txBody>
          <a:bodyPr/>
          <a:lstStyle/>
          <a:p>
            <a:r>
              <a:rPr lang="en-US" dirty="0"/>
              <a:t>Thesis Defense</a:t>
            </a:r>
          </a:p>
        </p:txBody>
      </p:sp>
      <p:sp>
        <p:nvSpPr>
          <p:cNvPr id="3" name="Content Placeholder 2">
            <a:extLst>
              <a:ext uri="{FF2B5EF4-FFF2-40B4-BE49-F238E27FC236}">
                <a16:creationId xmlns:a16="http://schemas.microsoft.com/office/drawing/2014/main" id="{37D2A8CD-51F9-1A89-2ECA-5834C022790E}"/>
              </a:ext>
            </a:extLst>
          </p:cNvPr>
          <p:cNvSpPr>
            <a:spLocks noGrp="1"/>
          </p:cNvSpPr>
          <p:nvPr>
            <p:ph sz="half" idx="10"/>
          </p:nvPr>
        </p:nvSpPr>
        <p:spPr>
          <a:xfrm>
            <a:off x="457200" y="2965481"/>
            <a:ext cx="2980481" cy="648656"/>
          </a:xfrm>
        </p:spPr>
        <p:txBody>
          <a:bodyPr/>
          <a:lstStyle/>
          <a:p>
            <a:r>
              <a:rPr lang="en-US" b="1" dirty="0">
                <a:solidFill>
                  <a:schemeClr val="tx2">
                    <a:lumMod val="90000"/>
                    <a:lumOff val="10000"/>
                  </a:schemeClr>
                </a:solidFill>
              </a:rPr>
              <a:t>JUNE *</a:t>
            </a:r>
            <a:r>
              <a:rPr lang="en-US" b="1" baseline="30000" dirty="0" err="1">
                <a:solidFill>
                  <a:schemeClr val="tx2">
                    <a:lumMod val="90000"/>
                    <a:lumOff val="10000"/>
                  </a:schemeClr>
                </a:solidFill>
              </a:rPr>
              <a:t>th</a:t>
            </a:r>
            <a:r>
              <a:rPr lang="en-US" b="1" baseline="30000" dirty="0">
                <a:solidFill>
                  <a:schemeClr val="tx2">
                    <a:lumMod val="90000"/>
                    <a:lumOff val="10000"/>
                  </a:schemeClr>
                </a:solidFill>
              </a:rPr>
              <a:t> </a:t>
            </a:r>
            <a:r>
              <a:rPr lang="en-US" b="1" dirty="0">
                <a:solidFill>
                  <a:schemeClr val="tx2">
                    <a:lumMod val="90000"/>
                    <a:lumOff val="10000"/>
                  </a:schemeClr>
                </a:solidFill>
              </a:rPr>
              <a:t>, 2026 I *:00 PM I ****, Building *   </a:t>
            </a:r>
          </a:p>
        </p:txBody>
      </p:sp>
      <p:sp>
        <p:nvSpPr>
          <p:cNvPr id="4" name="Content Placeholder 3">
            <a:extLst>
              <a:ext uri="{FF2B5EF4-FFF2-40B4-BE49-F238E27FC236}">
                <a16:creationId xmlns:a16="http://schemas.microsoft.com/office/drawing/2014/main" id="{D0D16438-A35E-B89C-3398-EC41F89CBDE6}"/>
              </a:ext>
            </a:extLst>
          </p:cNvPr>
          <p:cNvSpPr>
            <a:spLocks noGrp="1"/>
          </p:cNvSpPr>
          <p:nvPr>
            <p:ph sz="half" idx="2"/>
          </p:nvPr>
        </p:nvSpPr>
        <p:spPr/>
        <p:txBody>
          <a:bodyPr/>
          <a:lstStyle/>
          <a:p>
            <a:r>
              <a:rPr lang="en-US" sz="2400" b="1" dirty="0"/>
              <a:t>Examining Changes in Mouse Cortical Network Dynamics Due to Sleep Deprivation</a:t>
            </a:r>
            <a:endParaRPr lang="en-US" sz="2400" dirty="0"/>
          </a:p>
        </p:txBody>
      </p:sp>
      <p:sp>
        <p:nvSpPr>
          <p:cNvPr id="5" name="Content Placeholder 4">
            <a:extLst>
              <a:ext uri="{FF2B5EF4-FFF2-40B4-BE49-F238E27FC236}">
                <a16:creationId xmlns:a16="http://schemas.microsoft.com/office/drawing/2014/main" id="{89F1338E-6F2D-AFCC-1EAB-9FD8BC429526}"/>
              </a:ext>
            </a:extLst>
          </p:cNvPr>
          <p:cNvSpPr>
            <a:spLocks noGrp="1"/>
          </p:cNvSpPr>
          <p:nvPr>
            <p:ph sz="half" idx="11"/>
          </p:nvPr>
        </p:nvSpPr>
        <p:spPr>
          <a:xfrm>
            <a:off x="457200" y="5257461"/>
            <a:ext cx="6858000" cy="323082"/>
          </a:xfrm>
        </p:spPr>
        <p:txBody>
          <a:bodyPr/>
          <a:lstStyle/>
          <a:p>
            <a:r>
              <a:rPr lang="en-US" dirty="0"/>
              <a:t>Delaney Beckner, MSBR candidate  </a:t>
            </a:r>
          </a:p>
        </p:txBody>
      </p:sp>
      <p:sp>
        <p:nvSpPr>
          <p:cNvPr id="6" name="Content Placeholder 5">
            <a:extLst>
              <a:ext uri="{FF2B5EF4-FFF2-40B4-BE49-F238E27FC236}">
                <a16:creationId xmlns:a16="http://schemas.microsoft.com/office/drawing/2014/main" id="{446A45DD-AF40-2835-5B6C-3D7EF95E1450}"/>
              </a:ext>
            </a:extLst>
          </p:cNvPr>
          <p:cNvSpPr>
            <a:spLocks noGrp="1"/>
          </p:cNvSpPr>
          <p:nvPr>
            <p:ph sz="half" idx="12"/>
          </p:nvPr>
        </p:nvSpPr>
        <p:spPr>
          <a:xfrm>
            <a:off x="457200" y="5727161"/>
            <a:ext cx="6858000" cy="1343616"/>
          </a:xfrm>
        </p:spPr>
        <p:txBody>
          <a:bodyPr/>
          <a:lstStyle/>
          <a:p>
            <a:pPr algn="ctr">
              <a:spcBef>
                <a:spcPts val="0"/>
              </a:spcBef>
            </a:pPr>
            <a:r>
              <a:rPr lang="en-US" sz="1600" dirty="0">
                <a:solidFill>
                  <a:schemeClr val="tx2">
                    <a:lumMod val="90000"/>
                    <a:lumOff val="10000"/>
                  </a:schemeClr>
                </a:solidFill>
              </a:rPr>
              <a:t>In partial fulfillment of the requirements for the degree of</a:t>
            </a:r>
          </a:p>
          <a:p>
            <a:pPr algn="ctr">
              <a:spcBef>
                <a:spcPts val="0"/>
              </a:spcBef>
            </a:pPr>
            <a:r>
              <a:rPr lang="en-US" sz="1600" dirty="0">
                <a:solidFill>
                  <a:schemeClr val="tx2">
                    <a:lumMod val="90000"/>
                    <a:lumOff val="10000"/>
                  </a:schemeClr>
                </a:solidFill>
              </a:rPr>
              <a:t>Master of Science in Biomedical Research</a:t>
            </a:r>
          </a:p>
          <a:p>
            <a:pPr algn="ctr">
              <a:spcBef>
                <a:spcPts val="0"/>
              </a:spcBef>
            </a:pPr>
            <a:endParaRPr lang="en-US" sz="1600" dirty="0">
              <a:solidFill>
                <a:schemeClr val="tx2">
                  <a:lumMod val="90000"/>
                  <a:lumOff val="10000"/>
                </a:schemeClr>
              </a:solidFill>
            </a:endParaRPr>
          </a:p>
          <a:p>
            <a:pPr algn="ctr">
              <a:spcBef>
                <a:spcPts val="0"/>
              </a:spcBef>
            </a:pPr>
            <a:r>
              <a:rPr lang="en-US" sz="1600" dirty="0">
                <a:solidFill>
                  <a:schemeClr val="tx2">
                    <a:lumMod val="90000"/>
                    <a:lumOff val="10000"/>
                  </a:schemeClr>
                </a:solidFill>
              </a:rPr>
              <a:t>Under the direction of </a:t>
            </a:r>
          </a:p>
          <a:p>
            <a:pPr algn="ctr">
              <a:spcBef>
                <a:spcPts val="0"/>
              </a:spcBef>
            </a:pPr>
            <a:r>
              <a:rPr lang="en-US" sz="1600" dirty="0">
                <a:solidFill>
                  <a:schemeClr val="tx2">
                    <a:lumMod val="90000"/>
                    <a:lumOff val="10000"/>
                  </a:schemeClr>
                </a:solidFill>
              </a:rPr>
              <a:t>Alec Davidson PhD</a:t>
            </a:r>
          </a:p>
          <a:p>
            <a:pPr algn="ctr">
              <a:spcBef>
                <a:spcPts val="0"/>
              </a:spcBef>
            </a:pPr>
            <a:r>
              <a:rPr lang="en-US" sz="1600" dirty="0">
                <a:solidFill>
                  <a:schemeClr val="tx2">
                    <a:lumMod val="90000"/>
                    <a:lumOff val="10000"/>
                  </a:schemeClr>
                </a:solidFill>
              </a:rPr>
              <a:t>Professor, Department of Neurobiology</a:t>
            </a:r>
          </a:p>
          <a:p>
            <a:pPr algn="ctr">
              <a:spcBef>
                <a:spcPts val="0"/>
              </a:spcBef>
            </a:pPr>
            <a:r>
              <a:rPr lang="en-US" sz="1600" dirty="0">
                <a:solidFill>
                  <a:schemeClr val="tx2">
                    <a:lumMod val="90000"/>
                    <a:lumOff val="10000"/>
                  </a:schemeClr>
                </a:solidFill>
              </a:rPr>
              <a:t>Neuroscience Institute</a:t>
            </a:r>
          </a:p>
          <a:p>
            <a:endParaRPr lang="en-US" sz="1600" dirty="0">
              <a:solidFill>
                <a:schemeClr val="tx2">
                  <a:lumMod val="90000"/>
                  <a:lumOff val="10000"/>
                </a:schemeClr>
              </a:solidFill>
            </a:endParaRPr>
          </a:p>
        </p:txBody>
      </p:sp>
      <p:sp>
        <p:nvSpPr>
          <p:cNvPr id="7" name="Content Placeholder 6">
            <a:extLst>
              <a:ext uri="{FF2B5EF4-FFF2-40B4-BE49-F238E27FC236}">
                <a16:creationId xmlns:a16="http://schemas.microsoft.com/office/drawing/2014/main" id="{BE25FC94-DF32-8A6E-D6AF-0D567A72F819}"/>
              </a:ext>
            </a:extLst>
          </p:cNvPr>
          <p:cNvSpPr>
            <a:spLocks noGrp="1"/>
          </p:cNvSpPr>
          <p:nvPr>
            <p:ph sz="half" idx="13"/>
          </p:nvPr>
        </p:nvSpPr>
        <p:spPr>
          <a:xfrm>
            <a:off x="457200" y="7534172"/>
            <a:ext cx="6858000" cy="1343616"/>
          </a:xfrm>
        </p:spPr>
        <p:txBody>
          <a:bodyPr/>
          <a:lstStyle/>
          <a:p>
            <a:r>
              <a:rPr lang="en-US" sz="1800" i="0" dirty="0">
                <a:solidFill>
                  <a:schemeClr val="tx2">
                    <a:lumMod val="90000"/>
                    <a:lumOff val="10000"/>
                  </a:schemeClr>
                </a:solidFill>
                <a:effectLst/>
              </a:rPr>
              <a:t>Microsoft Teams</a:t>
            </a:r>
          </a:p>
          <a:p>
            <a:r>
              <a:rPr lang="en-US" sz="1800" i="0" dirty="0">
                <a:solidFill>
                  <a:schemeClr val="tx2">
                    <a:lumMod val="90000"/>
                    <a:lumOff val="10000"/>
                  </a:schemeClr>
                </a:solidFill>
                <a:effectLst/>
              </a:rPr>
              <a:t>Meeting ID: *</a:t>
            </a:r>
          </a:p>
          <a:p>
            <a:r>
              <a:rPr lang="en-US" sz="1800" i="0" dirty="0">
                <a:solidFill>
                  <a:schemeClr val="tx2">
                    <a:lumMod val="90000"/>
                    <a:lumOff val="10000"/>
                  </a:schemeClr>
                </a:solidFill>
                <a:effectLst/>
              </a:rPr>
              <a:t>Passcode: </a:t>
            </a:r>
            <a:r>
              <a:rPr lang="en-US" sz="1800" dirty="0">
                <a:solidFill>
                  <a:schemeClr val="tx2">
                    <a:lumMod val="90000"/>
                    <a:lumOff val="10000"/>
                  </a:schemeClr>
                </a:solidFill>
              </a:rPr>
              <a:t>*</a:t>
            </a:r>
            <a:endParaRPr lang="en-US" sz="1800" i="0" dirty="0">
              <a:solidFill>
                <a:schemeClr val="tx2">
                  <a:lumMod val="90000"/>
                  <a:lumOff val="10000"/>
                </a:schemeClr>
              </a:solidFill>
              <a:effectLst/>
            </a:endParaRPr>
          </a:p>
          <a:p>
            <a:r>
              <a:rPr lang="en-US" sz="1800" dirty="0">
                <a:solidFill>
                  <a:schemeClr val="tx2">
                    <a:lumMod val="90000"/>
                    <a:lumOff val="10000"/>
                  </a:schemeClr>
                </a:solidFill>
              </a:rPr>
              <a:t>In person attendance is preferred </a:t>
            </a:r>
            <a:endParaRPr lang="en-US" sz="1800" i="0" dirty="0">
              <a:solidFill>
                <a:schemeClr val="tx2">
                  <a:lumMod val="90000"/>
                  <a:lumOff val="10000"/>
                </a:schemeClr>
              </a:solidFill>
              <a:effectLst/>
            </a:endParaRPr>
          </a:p>
          <a:p>
            <a:endParaRPr lang="en-US" sz="1800" i="0" dirty="0">
              <a:solidFill>
                <a:schemeClr val="tx2">
                  <a:lumMod val="90000"/>
                  <a:lumOff val="10000"/>
                </a:schemeClr>
              </a:solidFill>
              <a:effectLst/>
            </a:endParaRPr>
          </a:p>
          <a:p>
            <a:endParaRPr lang="en-US" sz="1800" dirty="0">
              <a:solidFill>
                <a:schemeClr val="tx2">
                  <a:lumMod val="90000"/>
                  <a:lumOff val="10000"/>
                </a:schemeClr>
              </a:solidFill>
            </a:endParaRPr>
          </a:p>
        </p:txBody>
      </p:sp>
      <p:pic>
        <p:nvPicPr>
          <p:cNvPr id="13" name="Picture 12">
            <a:extLst>
              <a:ext uri="{FF2B5EF4-FFF2-40B4-BE49-F238E27FC236}">
                <a16:creationId xmlns:a16="http://schemas.microsoft.com/office/drawing/2014/main" id="{1A47A6D3-92B0-45C7-902F-4B2ED25A03B3}"/>
              </a:ext>
            </a:extLst>
          </p:cNvPr>
          <p:cNvPicPr>
            <a:picLocks noChangeAspect="1"/>
          </p:cNvPicPr>
          <p:nvPr/>
        </p:nvPicPr>
        <p:blipFill>
          <a:blip r:embed="rId3"/>
          <a:srcRect/>
          <a:stretch/>
        </p:blipFill>
        <p:spPr>
          <a:xfrm>
            <a:off x="4910459" y="1342663"/>
            <a:ext cx="2404742" cy="2404742"/>
          </a:xfrm>
          <a:prstGeom prst="rect">
            <a:avLst/>
          </a:prstGeom>
          <a:ln w="19050">
            <a:solidFill>
              <a:schemeClr val="tx1"/>
            </a:solidFill>
          </a:ln>
        </p:spPr>
      </p:pic>
    </p:spTree>
    <p:extLst>
      <p:ext uri="{BB962C8B-B14F-4D97-AF65-F5344CB8AC3E}">
        <p14:creationId xmlns:p14="http://schemas.microsoft.com/office/powerpoint/2010/main" val="33955948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E2E3AF84-9E02-BFB5-DC55-4B12454A2CB5}"/>
              </a:ext>
            </a:extLst>
          </p:cNvPr>
          <p:cNvSpPr>
            <a:spLocks noChangeArrowheads="1"/>
          </p:cNvSpPr>
          <p:nvPr/>
        </p:nvSpPr>
        <p:spPr bwMode="auto">
          <a:xfrm>
            <a:off x="-6385560" y="3636318"/>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sz="2400">
              <a:latin typeface="Arial" panose="020B0604020202020204" pitchFamily="34" charset="0"/>
              <a:cs typeface="Arial" panose="020B0604020202020204" pitchFamily="34" charset="0"/>
            </a:endParaRPr>
          </a:p>
        </p:txBody>
      </p:sp>
      <p:sp>
        <p:nvSpPr>
          <p:cNvPr id="10" name="Rectangle 3">
            <a:extLst>
              <a:ext uri="{FF2B5EF4-FFF2-40B4-BE49-F238E27FC236}">
                <a16:creationId xmlns:a16="http://schemas.microsoft.com/office/drawing/2014/main" id="{A999B037-DA69-CAD9-FE05-BBCD70F98159}"/>
              </a:ext>
            </a:extLst>
          </p:cNvPr>
          <p:cNvSpPr>
            <a:spLocks noChangeArrowheads="1"/>
          </p:cNvSpPr>
          <p:nvPr/>
        </p:nvSpPr>
        <p:spPr bwMode="auto">
          <a:xfrm>
            <a:off x="309786" y="1714753"/>
            <a:ext cx="715282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244061"/>
                </a:solidFill>
                <a:effectLst/>
                <a:latin typeface="Arial" panose="020B0604020202020204" pitchFamily="34" charset="0"/>
                <a:ea typeface="Times New Roman" panose="02020603050405020304" pitchFamily="18" charset="0"/>
                <a:cs typeface="Arial" panose="020B0604020202020204" pitchFamily="34" charset="0"/>
              </a:rPr>
              <a:t>Graduate Education in Biomedical Sciences</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44061"/>
                </a:solidFill>
                <a:effectLst/>
                <a:latin typeface="Arial" panose="020B0604020202020204" pitchFamily="34" charset="0"/>
                <a:ea typeface="Times New Roman" panose="02020603050405020304" pitchFamily="18" charset="0"/>
                <a:cs typeface="Arial" panose="020B0604020202020204" pitchFamily="34" charset="0"/>
              </a:rPr>
              <a:t>Final Examination</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44061"/>
                </a:solidFill>
                <a:effectLst/>
                <a:latin typeface="Arial" panose="020B0604020202020204" pitchFamily="34" charset="0"/>
                <a:ea typeface="Times New Roman" panose="02020603050405020304" pitchFamily="18" charset="0"/>
                <a:cs typeface="Arial" panose="020B0604020202020204" pitchFamily="34" charset="0"/>
              </a:rPr>
              <a:t>of</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244061"/>
                </a:solidFill>
                <a:effectLst/>
                <a:latin typeface="Arial" panose="020B0604020202020204" pitchFamily="34" charset="0"/>
                <a:ea typeface="Times New Roman" panose="02020603050405020304" pitchFamily="18" charset="0"/>
                <a:cs typeface="Arial" panose="020B0604020202020204" pitchFamily="34" charset="0"/>
              </a:rPr>
              <a:t>Delaney M. Beckner</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44061"/>
                </a:solidFill>
                <a:effectLst/>
                <a:latin typeface="Arial" panose="020B0604020202020204" pitchFamily="34" charset="0"/>
                <a:ea typeface="Times New Roman" panose="02020603050405020304" pitchFamily="18" charset="0"/>
                <a:cs typeface="Arial" panose="020B0604020202020204" pitchFamily="34" charset="0"/>
              </a:rPr>
              <a:t>For the Degree </a:t>
            </a:r>
            <a:r>
              <a:rPr lang="en-US" altLang="en-US" sz="2000" dirty="0">
                <a:solidFill>
                  <a:srgbClr val="244061"/>
                </a:solidFill>
                <a:latin typeface="Arial" panose="020B0604020202020204" pitchFamily="34" charset="0"/>
                <a:ea typeface="Times New Roman" panose="02020603050405020304" pitchFamily="18" charset="0"/>
                <a:cs typeface="Arial" panose="020B0604020202020204" pitchFamily="34" charset="0"/>
              </a:rPr>
              <a:t>of</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000" b="1" dirty="0">
                <a:solidFill>
                  <a:srgbClr val="244061"/>
                </a:solidFill>
                <a:latin typeface="Arial" panose="020B0604020202020204" pitchFamily="34" charset="0"/>
                <a:ea typeface="Times New Roman" panose="02020603050405020304" pitchFamily="18" charset="0"/>
                <a:cs typeface="Arial" panose="020B0604020202020204" pitchFamily="34" charset="0"/>
              </a:rPr>
              <a:t>MASTER OF SCIENCE</a:t>
            </a:r>
            <a:r>
              <a:rPr kumimoji="0" lang="en-US" altLang="en-US" sz="2000" b="1" i="0" u="none" strike="noStrike" cap="none" normalizeH="0" baseline="0" dirty="0">
                <a:ln>
                  <a:noFill/>
                </a:ln>
                <a:solidFill>
                  <a:srgbClr val="244061"/>
                </a:solidFill>
                <a:effectLst/>
                <a:latin typeface="Arial" panose="020B0604020202020204" pitchFamily="34" charset="0"/>
                <a:ea typeface="Times New Roman" panose="02020603050405020304" pitchFamily="18" charset="0"/>
                <a:cs typeface="Arial" panose="020B0604020202020204" pitchFamily="34" charset="0"/>
              </a:rPr>
              <a:t> IN BIOMEDICAL RESEARCH</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n-US" sz="2400" b="1" dirty="0">
              <a:solidFill>
                <a:srgbClr val="244061"/>
              </a:solidFill>
              <a:latin typeface="Arial" panose="020B0604020202020204" pitchFamily="34" charset="0"/>
              <a:ea typeface="Times New Roman" panose="02020603050405020304" pitchFamily="18" charset="0"/>
              <a:cs typeface="Arial" panose="020B0604020202020204" pitchFamily="34" charset="0"/>
            </a:endParaRPr>
          </a:p>
        </p:txBody>
      </p:sp>
      <p:sp>
        <p:nvSpPr>
          <p:cNvPr id="12" name="TextBox 11">
            <a:extLst>
              <a:ext uri="{FF2B5EF4-FFF2-40B4-BE49-F238E27FC236}">
                <a16:creationId xmlns:a16="http://schemas.microsoft.com/office/drawing/2014/main" id="{D2A98266-FCBA-358C-20A3-1F00ACFC002A}"/>
              </a:ext>
            </a:extLst>
          </p:cNvPr>
          <p:cNvSpPr txBox="1"/>
          <p:nvPr/>
        </p:nvSpPr>
        <p:spPr>
          <a:xfrm>
            <a:off x="385540" y="3937933"/>
            <a:ext cx="7077074" cy="4339650"/>
          </a:xfrm>
          <a:prstGeom prst="rect">
            <a:avLst/>
          </a:prstGeom>
          <a:noFill/>
        </p:spPr>
        <p:txBody>
          <a:bodyPr wrap="square">
            <a:spAutoFit/>
          </a:bodyPr>
          <a:lstStyle/>
          <a:p>
            <a:pPr marL="0" marR="0" lvl="0" indent="0" algn="ctr" defTabSz="914400" rtl="0" eaLnBrk="0" fontAlgn="base" latinLnBrk="0" hangingPunct="0">
              <a:spcBef>
                <a:spcPct val="0"/>
              </a:spcBef>
              <a:spcAft>
                <a:spcPct val="0"/>
              </a:spcAft>
              <a:buClrTx/>
              <a:buSzTx/>
              <a:buFontTx/>
              <a:buNone/>
              <a:tabLst/>
            </a:pPr>
            <a:r>
              <a:rPr kumimoji="0" lang="en-US" altLang="en-US" sz="1600" b="1" i="0" u="none" strike="noStrike" cap="none" normalizeH="0" baseline="0" dirty="0">
                <a:ln>
                  <a:noFill/>
                </a:ln>
                <a:solidFill>
                  <a:srgbClr val="244061"/>
                </a:solidFill>
                <a:effectLst/>
                <a:latin typeface="Arial" panose="020B0604020202020204" pitchFamily="34" charset="0"/>
                <a:ea typeface="Times New Roman" panose="02020603050405020304" pitchFamily="18" charset="0"/>
                <a:cs typeface="Arial" panose="020B0604020202020204" pitchFamily="34" charset="0"/>
              </a:rPr>
              <a:t>DISSERTATION COMMITTEE</a:t>
            </a:r>
          </a:p>
          <a:p>
            <a:pPr marL="0" marR="0" lvl="0" indent="0" algn="ctr" defTabSz="914400" rtl="0" eaLnBrk="0" fontAlgn="base" latinLnBrk="0" hangingPunct="0">
              <a:spcBef>
                <a:spcPct val="0"/>
              </a:spcBef>
              <a:spcAft>
                <a:spcPct val="0"/>
              </a:spcAft>
              <a:buClrTx/>
              <a:buSzTx/>
              <a:buFontTx/>
              <a:buNone/>
              <a:tabLst/>
            </a:pPr>
            <a:endParaRPr kumimoji="0" lang="en-US" altLang="en-US" sz="15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spcBef>
                <a:spcPct val="0"/>
              </a:spcBef>
              <a:spcAft>
                <a:spcPct val="0"/>
              </a:spcAft>
              <a:buClrTx/>
              <a:buSzTx/>
              <a:buFontTx/>
              <a:buNone/>
              <a:tabLst/>
            </a:pPr>
            <a:r>
              <a:rPr lang="en-US" altLang="en-US" sz="1500" b="1" dirty="0">
                <a:solidFill>
                  <a:srgbClr val="244061"/>
                </a:solidFill>
                <a:latin typeface="Arial" panose="020B0604020202020204" pitchFamily="34" charset="0"/>
                <a:ea typeface="Times New Roman" panose="02020603050405020304" pitchFamily="18" charset="0"/>
                <a:cs typeface="Arial" panose="020B0604020202020204" pitchFamily="34" charset="0"/>
              </a:rPr>
              <a:t>Alec J. Davidson</a:t>
            </a:r>
            <a:r>
              <a:rPr kumimoji="0" lang="en-US" altLang="en-US" sz="1500" b="1" i="0" u="none" strike="noStrike" cap="none" normalizeH="0" baseline="0" dirty="0">
                <a:ln>
                  <a:noFill/>
                </a:ln>
                <a:solidFill>
                  <a:srgbClr val="244061"/>
                </a:solidFill>
                <a:effectLst/>
                <a:latin typeface="Arial" panose="020B0604020202020204" pitchFamily="34" charset="0"/>
                <a:ea typeface="Times New Roman" panose="02020603050405020304" pitchFamily="18" charset="0"/>
                <a:cs typeface="Arial" panose="020B0604020202020204" pitchFamily="34" charset="0"/>
              </a:rPr>
              <a:t>, PhD Chair</a:t>
            </a:r>
            <a:endParaRPr kumimoji="0" lang="en-US" altLang="en-US" sz="15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spcBef>
                <a:spcPct val="0"/>
              </a:spcBef>
              <a:spcAft>
                <a:spcPct val="0"/>
              </a:spcAft>
              <a:buClrTx/>
              <a:buSzTx/>
              <a:buFontTx/>
              <a:buNone/>
              <a:tabLst/>
            </a:pPr>
            <a:r>
              <a:rPr kumimoji="0" lang="en-US" altLang="en-US" sz="1500" b="0" i="0" u="none" strike="noStrike" cap="none" normalizeH="0" baseline="0" dirty="0">
                <a:ln>
                  <a:noFill/>
                </a:ln>
                <a:solidFill>
                  <a:srgbClr val="244061"/>
                </a:solidFill>
                <a:effectLst/>
                <a:latin typeface="Arial" panose="020B0604020202020204" pitchFamily="34" charset="0"/>
                <a:ea typeface="Times New Roman" panose="02020603050405020304" pitchFamily="18" charset="0"/>
                <a:cs typeface="Arial" panose="020B0604020202020204" pitchFamily="34" charset="0"/>
              </a:rPr>
              <a:t>Professor, Department of </a:t>
            </a:r>
            <a:r>
              <a:rPr lang="en-US" altLang="en-US" sz="1500" dirty="0">
                <a:solidFill>
                  <a:srgbClr val="244061"/>
                </a:solidFill>
                <a:latin typeface="Arial" panose="020B0604020202020204" pitchFamily="34" charset="0"/>
                <a:ea typeface="Times New Roman" panose="02020603050405020304" pitchFamily="18" charset="0"/>
                <a:cs typeface="Arial" panose="020B0604020202020204" pitchFamily="34" charset="0"/>
              </a:rPr>
              <a:t>Neurobiology</a:t>
            </a:r>
            <a:endParaRPr lang="en-US" altLang="en-US" sz="1500" dirty="0">
              <a:solidFill>
                <a:srgbClr val="244061"/>
              </a:solidFill>
              <a:latin typeface="Arial" panose="020B0604020202020204" pitchFamily="34" charset="0"/>
              <a:cs typeface="Arial" panose="020B0604020202020204" pitchFamily="34" charset="0"/>
            </a:endParaRPr>
          </a:p>
          <a:p>
            <a:pPr marL="0" marR="0" lvl="0" indent="0" algn="ctr" defTabSz="914400" rtl="0" eaLnBrk="0" fontAlgn="base" latinLnBrk="0" hangingPunct="0">
              <a:spcBef>
                <a:spcPct val="0"/>
              </a:spcBef>
              <a:spcAft>
                <a:spcPct val="0"/>
              </a:spcAft>
              <a:buClrTx/>
              <a:buSzTx/>
              <a:buFontTx/>
              <a:buNone/>
              <a:tabLst/>
            </a:pPr>
            <a:r>
              <a:rPr kumimoji="0" lang="en-US" altLang="en-US" sz="1500" b="0" i="0" u="none" strike="noStrike" cap="none" normalizeH="0" baseline="0" dirty="0">
                <a:ln>
                  <a:noFill/>
                </a:ln>
                <a:solidFill>
                  <a:srgbClr val="244061"/>
                </a:solidFill>
                <a:effectLst/>
                <a:latin typeface="Arial" panose="020B0604020202020204" pitchFamily="34" charset="0"/>
                <a:cs typeface="Arial" panose="020B0604020202020204" pitchFamily="34" charset="0"/>
              </a:rPr>
              <a:t>Morehouse School of Medicine</a:t>
            </a:r>
            <a:endParaRPr kumimoji="0" lang="en-US" altLang="en-US" sz="15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spcBef>
                <a:spcPct val="0"/>
              </a:spcBef>
              <a:spcAft>
                <a:spcPct val="0"/>
              </a:spcAft>
              <a:buClrTx/>
              <a:buSzTx/>
              <a:buFontTx/>
              <a:buNone/>
              <a:tabLst/>
            </a:pPr>
            <a:r>
              <a:rPr lang="en-US" altLang="en-US" sz="1500" b="1" dirty="0">
                <a:solidFill>
                  <a:srgbClr val="244061"/>
                </a:solidFill>
                <a:latin typeface="Arial" panose="020B0604020202020204" pitchFamily="34" charset="0"/>
                <a:cs typeface="Arial" panose="020B0604020202020204" pitchFamily="34" charset="0"/>
              </a:rPr>
              <a:t>J. Christopher Ehlen, PhD</a:t>
            </a:r>
            <a:endParaRPr kumimoji="0" lang="en-US" altLang="en-US" sz="15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spcBef>
                <a:spcPct val="0"/>
              </a:spcBef>
              <a:spcAft>
                <a:spcPct val="0"/>
              </a:spcAft>
              <a:buClrTx/>
              <a:buSzTx/>
              <a:buFontTx/>
              <a:buNone/>
              <a:tabLst/>
            </a:pPr>
            <a:r>
              <a:rPr kumimoji="0" lang="en-US" altLang="en-US" sz="1500" b="0" i="0" u="none" strike="noStrike" cap="none" normalizeH="0" baseline="0" dirty="0">
                <a:ln>
                  <a:noFill/>
                </a:ln>
                <a:solidFill>
                  <a:srgbClr val="244061"/>
                </a:solidFill>
                <a:effectLst/>
                <a:latin typeface="Arial" panose="020B0604020202020204" pitchFamily="34" charset="0"/>
                <a:ea typeface="Times New Roman" panose="02020603050405020304" pitchFamily="18" charset="0"/>
                <a:cs typeface="Arial" panose="020B0604020202020204" pitchFamily="34" charset="0"/>
              </a:rPr>
              <a:t>Associate Professor, Department of Neurobiology</a:t>
            </a:r>
            <a:endParaRPr kumimoji="0" lang="en-US" altLang="en-US" sz="15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spcBef>
                <a:spcPct val="0"/>
              </a:spcBef>
              <a:spcAft>
                <a:spcPct val="0"/>
              </a:spcAft>
              <a:buClrTx/>
              <a:buSzTx/>
              <a:buFontTx/>
              <a:buNone/>
              <a:tabLst/>
            </a:pPr>
            <a:r>
              <a:rPr kumimoji="0" lang="en-US" altLang="en-US" sz="1500" b="0" i="0" u="none" strike="noStrike" cap="none" normalizeH="0" baseline="0" dirty="0">
                <a:ln>
                  <a:noFill/>
                </a:ln>
                <a:solidFill>
                  <a:srgbClr val="244061"/>
                </a:solidFill>
                <a:effectLst/>
                <a:latin typeface="Arial" panose="020B0604020202020204" pitchFamily="34" charset="0"/>
                <a:ea typeface="Times New Roman" panose="02020603050405020304" pitchFamily="18" charset="0"/>
                <a:cs typeface="Arial" panose="020B0604020202020204" pitchFamily="34" charset="0"/>
              </a:rPr>
              <a:t>Morehouse School of Medicine</a:t>
            </a:r>
            <a:endParaRPr kumimoji="0" lang="en-US" altLang="en-US" sz="15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spcBef>
                <a:spcPct val="0"/>
              </a:spcBef>
              <a:spcAft>
                <a:spcPct val="0"/>
              </a:spcAft>
              <a:buClrTx/>
              <a:buSzTx/>
              <a:buFontTx/>
              <a:buNone/>
              <a:tabLst/>
            </a:pPr>
            <a:r>
              <a:rPr lang="en-US" altLang="en-US" sz="1500" b="1" dirty="0">
                <a:solidFill>
                  <a:srgbClr val="244061"/>
                </a:solidFill>
                <a:latin typeface="Arial" panose="020B0604020202020204" pitchFamily="34" charset="0"/>
                <a:ea typeface="Times New Roman" panose="02020603050405020304" pitchFamily="18" charset="0"/>
                <a:cs typeface="Arial" panose="020B0604020202020204" pitchFamily="34" charset="0"/>
              </a:rPr>
              <a:t>Morris Benveniste, PhD</a:t>
            </a:r>
            <a:endParaRPr kumimoji="0" lang="en-US" altLang="en-US" sz="15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spcBef>
                <a:spcPct val="0"/>
              </a:spcBef>
              <a:spcAft>
                <a:spcPct val="0"/>
              </a:spcAft>
              <a:buClrTx/>
              <a:buSzTx/>
              <a:buFontTx/>
              <a:buNone/>
              <a:tabLst/>
            </a:pPr>
            <a:r>
              <a:rPr kumimoji="0" lang="en-US" altLang="en-US" sz="1500" b="0" i="0" u="none" strike="noStrike" cap="none" normalizeH="0" baseline="0" dirty="0">
                <a:ln>
                  <a:noFill/>
                </a:ln>
                <a:solidFill>
                  <a:srgbClr val="244061"/>
                </a:solidFill>
                <a:effectLst/>
                <a:latin typeface="Arial" panose="020B0604020202020204" pitchFamily="34" charset="0"/>
                <a:ea typeface="Times New Roman" panose="02020603050405020304" pitchFamily="18" charset="0"/>
                <a:cs typeface="Arial" panose="020B0604020202020204" pitchFamily="34" charset="0"/>
              </a:rPr>
              <a:t>Professor, Department of </a:t>
            </a:r>
            <a:r>
              <a:rPr lang="en-US" altLang="en-US" sz="1500" dirty="0">
                <a:solidFill>
                  <a:srgbClr val="244061"/>
                </a:solidFill>
                <a:latin typeface="Arial" panose="020B0604020202020204" pitchFamily="34" charset="0"/>
                <a:ea typeface="Times New Roman" panose="02020603050405020304" pitchFamily="18" charset="0"/>
                <a:cs typeface="Arial" panose="020B0604020202020204" pitchFamily="34" charset="0"/>
              </a:rPr>
              <a:t>Neurobiology</a:t>
            </a:r>
            <a:endParaRPr kumimoji="0" lang="en-US" altLang="en-US" sz="15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spcBef>
                <a:spcPct val="0"/>
              </a:spcBef>
              <a:spcAft>
                <a:spcPct val="0"/>
              </a:spcAft>
              <a:buClrTx/>
              <a:buSzTx/>
              <a:buFontTx/>
              <a:buNone/>
              <a:tabLst/>
            </a:pPr>
            <a:r>
              <a:rPr kumimoji="0" lang="en-US" altLang="en-US" sz="1500" b="0" i="0" u="none" strike="noStrike" cap="none" normalizeH="0" baseline="0" dirty="0">
                <a:ln>
                  <a:noFill/>
                </a:ln>
                <a:solidFill>
                  <a:srgbClr val="244061"/>
                </a:solidFill>
                <a:effectLst/>
                <a:latin typeface="Arial" panose="020B0604020202020204" pitchFamily="34" charset="0"/>
                <a:ea typeface="Times New Roman" panose="02020603050405020304" pitchFamily="18" charset="0"/>
                <a:cs typeface="Arial" panose="020B0604020202020204" pitchFamily="34" charset="0"/>
              </a:rPr>
              <a:t>Morehouse School of Medicine</a:t>
            </a:r>
            <a:endParaRPr kumimoji="0" lang="en-US" altLang="en-US" sz="15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spcBef>
                <a:spcPct val="0"/>
              </a:spcBef>
              <a:spcAft>
                <a:spcPct val="0"/>
              </a:spcAft>
              <a:buClrTx/>
              <a:buSzTx/>
              <a:buFontTx/>
              <a:buNone/>
              <a:tabLst/>
            </a:pPr>
            <a:r>
              <a:rPr lang="en-US" altLang="en-US" sz="1500" b="1" dirty="0">
                <a:solidFill>
                  <a:srgbClr val="244061"/>
                </a:solidFill>
                <a:latin typeface="Arial" panose="020B0604020202020204" pitchFamily="34" charset="0"/>
                <a:cs typeface="Arial" panose="020B0604020202020204" pitchFamily="34" charset="0"/>
              </a:rPr>
              <a:t>Jennifer Evans, PhD</a:t>
            </a:r>
            <a:endParaRPr kumimoji="0" lang="en-US" altLang="en-US" sz="15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spcBef>
                <a:spcPct val="0"/>
              </a:spcBef>
              <a:spcAft>
                <a:spcPct val="0"/>
              </a:spcAft>
              <a:buClrTx/>
              <a:buSzTx/>
              <a:buFontTx/>
              <a:buNone/>
              <a:tabLst/>
            </a:pPr>
            <a:r>
              <a:rPr kumimoji="0" lang="en-US" altLang="en-US" sz="1500" b="0" i="0" u="none" strike="noStrike" cap="none" normalizeH="0" baseline="0" dirty="0">
                <a:ln>
                  <a:noFill/>
                </a:ln>
                <a:solidFill>
                  <a:srgbClr val="244061"/>
                </a:solidFill>
                <a:effectLst/>
                <a:latin typeface="Arial" panose="020B0604020202020204" pitchFamily="34" charset="0"/>
                <a:ea typeface="Times New Roman" panose="02020603050405020304" pitchFamily="18" charset="0"/>
                <a:cs typeface="Arial" panose="020B0604020202020204" pitchFamily="34" charset="0"/>
              </a:rPr>
              <a:t>Professor, Department of Biomedical Sciences</a:t>
            </a:r>
          </a:p>
          <a:p>
            <a:pPr marL="0" marR="0" lvl="0" indent="0" algn="ctr" defTabSz="914400" rtl="0" eaLnBrk="0" fontAlgn="base" latinLnBrk="0" hangingPunct="0">
              <a:spcBef>
                <a:spcPct val="0"/>
              </a:spcBef>
              <a:spcAft>
                <a:spcPct val="0"/>
              </a:spcAft>
              <a:buClrTx/>
              <a:buSzTx/>
              <a:buFontTx/>
              <a:buNone/>
              <a:tabLst/>
            </a:pPr>
            <a:r>
              <a:rPr kumimoji="0" lang="en-US" altLang="en-US" sz="1500" b="0" i="0" u="none" strike="noStrike" cap="none" normalizeH="0" baseline="0" dirty="0">
                <a:ln>
                  <a:noFill/>
                </a:ln>
                <a:solidFill>
                  <a:srgbClr val="244061"/>
                </a:solidFill>
                <a:effectLst/>
                <a:latin typeface="Arial" panose="020B0604020202020204" pitchFamily="34" charset="0"/>
                <a:ea typeface="Times New Roman" panose="02020603050405020304" pitchFamily="18" charset="0"/>
                <a:cs typeface="Arial" panose="020B0604020202020204" pitchFamily="34" charset="0"/>
              </a:rPr>
              <a:t>Marquette University</a:t>
            </a:r>
          </a:p>
          <a:p>
            <a:pPr lvl="0" algn="ctr" defTabSz="914400" eaLnBrk="0" fontAlgn="base" hangingPunct="0">
              <a:spcBef>
                <a:spcPct val="0"/>
              </a:spcBef>
              <a:spcAft>
                <a:spcPct val="0"/>
              </a:spcAft>
            </a:pPr>
            <a:r>
              <a:rPr lang="en-US" altLang="en-US" sz="1500" b="1" dirty="0">
                <a:solidFill>
                  <a:srgbClr val="244061"/>
                </a:solidFill>
                <a:latin typeface="Arial" panose="020B0604020202020204" pitchFamily="34" charset="0"/>
                <a:ea typeface="Times New Roman" panose="02020603050405020304" pitchFamily="18" charset="0"/>
                <a:cs typeface="Arial" panose="020B0604020202020204" pitchFamily="34" charset="0"/>
              </a:rPr>
              <a:t>Radhika Basheer, PhD</a:t>
            </a:r>
            <a:endParaRPr lang="en-US" altLang="en-US" sz="1500" dirty="0">
              <a:latin typeface="Arial" panose="020B0604020202020204" pitchFamily="34" charset="0"/>
              <a:cs typeface="Arial" panose="020B0604020202020204" pitchFamily="34" charset="0"/>
            </a:endParaRPr>
          </a:p>
          <a:p>
            <a:pPr lvl="0" algn="ctr" defTabSz="914400" eaLnBrk="0" fontAlgn="base" hangingPunct="0">
              <a:spcBef>
                <a:spcPct val="0"/>
              </a:spcBef>
              <a:spcAft>
                <a:spcPct val="0"/>
              </a:spcAft>
            </a:pPr>
            <a:r>
              <a:rPr lang="en-US" altLang="en-US" sz="1500">
                <a:solidFill>
                  <a:srgbClr val="244061"/>
                </a:solidFill>
                <a:latin typeface="Arial" panose="020B0604020202020204" pitchFamily="34" charset="0"/>
                <a:ea typeface="Times New Roman" panose="02020603050405020304" pitchFamily="18" charset="0"/>
                <a:cs typeface="Arial" panose="020B0604020202020204" pitchFamily="34" charset="0"/>
              </a:rPr>
              <a:t>Associate Professor, Division </a:t>
            </a:r>
            <a:r>
              <a:rPr lang="en-US" altLang="en-US" sz="1500" dirty="0">
                <a:solidFill>
                  <a:srgbClr val="244061"/>
                </a:solidFill>
                <a:latin typeface="Arial" panose="020B0604020202020204" pitchFamily="34" charset="0"/>
                <a:ea typeface="Times New Roman" panose="02020603050405020304" pitchFamily="18" charset="0"/>
                <a:cs typeface="Arial" panose="020B0604020202020204" pitchFamily="34" charset="0"/>
              </a:rPr>
              <a:t>of Sleep Medicine</a:t>
            </a:r>
          </a:p>
          <a:p>
            <a:pPr lvl="0" algn="ctr" defTabSz="914400" eaLnBrk="0" fontAlgn="base" hangingPunct="0">
              <a:spcBef>
                <a:spcPct val="0"/>
              </a:spcBef>
              <a:spcAft>
                <a:spcPct val="0"/>
              </a:spcAft>
            </a:pPr>
            <a:r>
              <a:rPr lang="en-US" altLang="en-US" sz="1500" dirty="0">
                <a:solidFill>
                  <a:srgbClr val="244061"/>
                </a:solidFill>
                <a:latin typeface="Arial" panose="020B0604020202020204" pitchFamily="34" charset="0"/>
                <a:ea typeface="Times New Roman" panose="02020603050405020304" pitchFamily="18" charset="0"/>
                <a:cs typeface="Arial" panose="020B0604020202020204" pitchFamily="34" charset="0"/>
              </a:rPr>
              <a:t>Harvard Medical School</a:t>
            </a:r>
          </a:p>
          <a:p>
            <a:pPr marL="0" marR="0" lvl="0" indent="0" algn="ctr" defTabSz="914400" rtl="0" eaLnBrk="0" fontAlgn="base" latinLnBrk="0" hangingPunct="0">
              <a:spcBef>
                <a:spcPct val="0"/>
              </a:spcBef>
              <a:spcAft>
                <a:spcPct val="0"/>
              </a:spcAft>
              <a:buClrTx/>
              <a:buSzTx/>
              <a:buFontTx/>
              <a:buNone/>
              <a:tabLst/>
            </a:pPr>
            <a:endParaRPr lang="en-US" sz="2000" dirty="0"/>
          </a:p>
        </p:txBody>
      </p:sp>
    </p:spTree>
    <p:extLst>
      <p:ext uri="{BB962C8B-B14F-4D97-AF65-F5344CB8AC3E}">
        <p14:creationId xmlns:p14="http://schemas.microsoft.com/office/powerpoint/2010/main" val="1730431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24BA5C85-22AF-9C53-188A-B1846E7295D1}"/>
              </a:ext>
            </a:extLst>
          </p:cNvPr>
          <p:cNvSpPr txBox="1"/>
          <p:nvPr/>
        </p:nvSpPr>
        <p:spPr>
          <a:xfrm>
            <a:off x="164432" y="1454855"/>
            <a:ext cx="6922168" cy="1938992"/>
          </a:xfrm>
          <a:prstGeom prst="rect">
            <a:avLst/>
          </a:prstGeom>
          <a:noFill/>
        </p:spPr>
        <p:txBody>
          <a:bodyPr wrap="square">
            <a:spAutoFit/>
          </a:bodyPr>
          <a:lstStyle/>
          <a:p>
            <a:pPr marL="0" marR="0" algn="ctr">
              <a:spcBef>
                <a:spcPts val="0"/>
              </a:spcBef>
              <a:spcAft>
                <a:spcPts val="0"/>
              </a:spcAft>
            </a:pPr>
            <a:r>
              <a:rPr lang="en-US" sz="2000" b="1" dirty="0">
                <a:solidFill>
                  <a:srgbClr val="244061"/>
                </a:solidFill>
                <a:effectLst/>
                <a:latin typeface="Arial" panose="020B0604020202020204" pitchFamily="34" charset="0"/>
                <a:ea typeface="Times New Roman" panose="02020603050405020304" pitchFamily="18" charset="0"/>
                <a:cs typeface="Arial" panose="020B0604020202020204" pitchFamily="34" charset="0"/>
              </a:rPr>
              <a:t>PROFESSOR IN CHARGE OF RESEARCH</a:t>
            </a:r>
            <a:endParaRPr lang="en-US" sz="2000" dirty="0">
              <a:effectLst/>
              <a:latin typeface="Arial" panose="020B0604020202020204" pitchFamily="34" charset="0"/>
              <a:ea typeface="Times New Roman" panose="02020603050405020304" pitchFamily="18" charset="0"/>
              <a:cs typeface="Arial" panose="020B0604020202020204" pitchFamily="34" charset="0"/>
            </a:endParaRPr>
          </a:p>
          <a:p>
            <a:pPr marL="0" marR="0" algn="ctr">
              <a:spcBef>
                <a:spcPts val="0"/>
              </a:spcBef>
              <a:spcAft>
                <a:spcPts val="0"/>
              </a:spcAft>
            </a:pPr>
            <a:r>
              <a:rPr lang="en-US" sz="2000" dirty="0">
                <a:solidFill>
                  <a:srgbClr val="244061"/>
                </a:solidFill>
                <a:effectLst/>
                <a:latin typeface="Arial" panose="020B0604020202020204" pitchFamily="34" charset="0"/>
                <a:ea typeface="Times New Roman" panose="02020603050405020304" pitchFamily="18" charset="0"/>
                <a:cs typeface="Arial" panose="020B0604020202020204" pitchFamily="34" charset="0"/>
              </a:rPr>
              <a:t> </a:t>
            </a:r>
            <a:r>
              <a:rPr lang="en-US" sz="2000" dirty="0">
                <a:solidFill>
                  <a:srgbClr val="244061"/>
                </a:solidFill>
                <a:latin typeface="Arial" panose="020B0604020202020204" pitchFamily="34" charset="0"/>
                <a:ea typeface="Times New Roman" panose="02020603050405020304" pitchFamily="18" charset="0"/>
                <a:cs typeface="Arial" panose="020B0604020202020204" pitchFamily="34" charset="0"/>
              </a:rPr>
              <a:t>Alec J. Davidson,</a:t>
            </a:r>
            <a:r>
              <a:rPr lang="en-US" sz="2000" dirty="0">
                <a:solidFill>
                  <a:srgbClr val="244061"/>
                </a:solidFill>
                <a:effectLst/>
                <a:latin typeface="Arial" panose="020B0604020202020204" pitchFamily="34" charset="0"/>
                <a:ea typeface="Times New Roman" panose="02020603050405020304" pitchFamily="18" charset="0"/>
                <a:cs typeface="Arial" panose="020B0604020202020204" pitchFamily="34" charset="0"/>
              </a:rPr>
              <a:t> PhD</a:t>
            </a:r>
            <a:r>
              <a:rPr lang="en-US" sz="2000" b="1" dirty="0">
                <a:solidFill>
                  <a:srgbClr val="244061"/>
                </a:solidFill>
                <a:effectLst/>
                <a:latin typeface="Arial" panose="020B0604020202020204" pitchFamily="34" charset="0"/>
                <a:ea typeface="Times New Roman" panose="02020603050405020304" pitchFamily="18" charset="0"/>
                <a:cs typeface="Arial" panose="020B0604020202020204" pitchFamily="34" charset="0"/>
              </a:rPr>
              <a:t> </a:t>
            </a:r>
          </a:p>
          <a:p>
            <a:pPr marL="0" marR="0" algn="ctr">
              <a:spcBef>
                <a:spcPts val="0"/>
              </a:spcBef>
              <a:spcAft>
                <a:spcPts val="0"/>
              </a:spcAft>
            </a:pPr>
            <a:endParaRPr lang="en-US" sz="2000" dirty="0">
              <a:effectLst/>
              <a:latin typeface="Arial" panose="020B0604020202020204" pitchFamily="34" charset="0"/>
              <a:ea typeface="Times New Roman" panose="02020603050405020304" pitchFamily="18" charset="0"/>
              <a:cs typeface="Arial" panose="020B0604020202020204" pitchFamily="34" charset="0"/>
            </a:endParaRPr>
          </a:p>
          <a:p>
            <a:pPr marL="0" marR="0" algn="ctr">
              <a:spcBef>
                <a:spcPts val="0"/>
              </a:spcBef>
              <a:spcAft>
                <a:spcPts val="0"/>
              </a:spcAft>
            </a:pPr>
            <a:r>
              <a:rPr lang="en-US" sz="2000" b="1" dirty="0">
                <a:solidFill>
                  <a:srgbClr val="244061"/>
                </a:solidFill>
                <a:effectLst/>
                <a:latin typeface="Arial" panose="020B0604020202020204" pitchFamily="34" charset="0"/>
                <a:ea typeface="Times New Roman" panose="02020603050405020304" pitchFamily="18" charset="0"/>
                <a:cs typeface="Arial" panose="020B0604020202020204" pitchFamily="34" charset="0"/>
              </a:rPr>
              <a:t>Department of </a:t>
            </a:r>
            <a:r>
              <a:rPr lang="en-US" sz="2000" b="1" dirty="0">
                <a:solidFill>
                  <a:srgbClr val="244061"/>
                </a:solidFill>
                <a:latin typeface="Arial" panose="020B0604020202020204" pitchFamily="34" charset="0"/>
                <a:ea typeface="Times New Roman" panose="02020603050405020304" pitchFamily="18" charset="0"/>
                <a:cs typeface="Arial" panose="020B0604020202020204" pitchFamily="34" charset="0"/>
              </a:rPr>
              <a:t>Neurobiology</a:t>
            </a:r>
            <a:endParaRPr lang="en-US" sz="2000" b="1" dirty="0">
              <a:solidFill>
                <a:srgbClr val="244061"/>
              </a:solidFill>
              <a:effectLst/>
              <a:latin typeface="Arial" panose="020B0604020202020204" pitchFamily="34" charset="0"/>
              <a:ea typeface="Times New Roman" panose="02020603050405020304" pitchFamily="18" charset="0"/>
              <a:cs typeface="Arial" panose="020B0604020202020204" pitchFamily="34" charset="0"/>
            </a:endParaRPr>
          </a:p>
          <a:p>
            <a:pPr marL="0" marR="0" algn="ctr">
              <a:spcBef>
                <a:spcPts val="0"/>
              </a:spcBef>
              <a:spcAft>
                <a:spcPts val="0"/>
              </a:spcAft>
            </a:pPr>
            <a:endParaRPr lang="en-US" sz="2000" b="1" dirty="0">
              <a:effectLst/>
              <a:latin typeface="Arial" panose="020B0604020202020204" pitchFamily="34" charset="0"/>
              <a:ea typeface="Times New Roman" panose="02020603050405020304" pitchFamily="18" charset="0"/>
              <a:cs typeface="Arial" panose="020B0604020202020204" pitchFamily="34" charset="0"/>
            </a:endParaRPr>
          </a:p>
          <a:p>
            <a:pPr marL="0" marR="0" algn="ctr">
              <a:spcBef>
                <a:spcPts val="0"/>
              </a:spcBef>
              <a:spcAft>
                <a:spcPts val="0"/>
              </a:spcAft>
            </a:pPr>
            <a:r>
              <a:rPr lang="en-US" sz="2000" b="1" dirty="0">
                <a:solidFill>
                  <a:srgbClr val="244061"/>
                </a:solidFill>
                <a:effectLst/>
                <a:latin typeface="Arial" panose="020B0604020202020204" pitchFamily="34" charset="0"/>
                <a:ea typeface="Times New Roman" panose="02020603050405020304" pitchFamily="18" charset="0"/>
                <a:cs typeface="Arial" panose="020B0604020202020204" pitchFamily="34" charset="0"/>
              </a:rPr>
              <a:t>Morehouse School of Medicine</a:t>
            </a:r>
            <a:endParaRPr lang="en-US" sz="2000" b="1" dirty="0">
              <a:effectLst/>
              <a:latin typeface="Arial" panose="020B0604020202020204" pitchFamily="34" charset="0"/>
              <a:ea typeface="Times New Roman" panose="02020603050405020304" pitchFamily="18" charset="0"/>
              <a:cs typeface="Arial" panose="020B0604020202020204" pitchFamily="34" charset="0"/>
            </a:endParaRPr>
          </a:p>
        </p:txBody>
      </p:sp>
      <p:sp>
        <p:nvSpPr>
          <p:cNvPr id="12" name="TextBox 11">
            <a:extLst>
              <a:ext uri="{FF2B5EF4-FFF2-40B4-BE49-F238E27FC236}">
                <a16:creationId xmlns:a16="http://schemas.microsoft.com/office/drawing/2014/main" id="{EC08065D-4B00-6279-B884-52A375CE8BB6}"/>
              </a:ext>
            </a:extLst>
          </p:cNvPr>
          <p:cNvSpPr txBox="1"/>
          <p:nvPr/>
        </p:nvSpPr>
        <p:spPr>
          <a:xfrm>
            <a:off x="413084" y="3701624"/>
            <a:ext cx="6673516" cy="4678204"/>
          </a:xfrm>
          <a:prstGeom prst="rect">
            <a:avLst/>
          </a:prstGeom>
          <a:noFill/>
        </p:spPr>
        <p:txBody>
          <a:bodyPr wrap="square">
            <a:spAutoFit/>
          </a:bodyPr>
          <a:lstStyle/>
          <a:p>
            <a:pPr marL="0" marR="0" algn="ctr">
              <a:spcBef>
                <a:spcPts val="0"/>
              </a:spcBef>
              <a:spcAft>
                <a:spcPts val="0"/>
              </a:spcAft>
            </a:pPr>
            <a:endParaRPr lang="en-US" sz="1600" b="1" dirty="0">
              <a:solidFill>
                <a:srgbClr val="244061"/>
              </a:solidFill>
              <a:effectLst/>
              <a:latin typeface="Arial" panose="020B0604020202020204" pitchFamily="34" charset="0"/>
              <a:ea typeface="Times New Roman" panose="02020603050405020304" pitchFamily="18" charset="0"/>
              <a:cs typeface="Arial" panose="020B0604020202020204" pitchFamily="34" charset="0"/>
            </a:endParaRPr>
          </a:p>
          <a:p>
            <a:pPr marL="0" marR="0" algn="ctr">
              <a:spcBef>
                <a:spcPts val="0"/>
              </a:spcBef>
              <a:spcAft>
                <a:spcPts val="0"/>
              </a:spcAft>
            </a:pPr>
            <a:r>
              <a:rPr lang="en-US" sz="1600" b="1" dirty="0">
                <a:solidFill>
                  <a:srgbClr val="244061"/>
                </a:solidFill>
                <a:effectLst/>
                <a:latin typeface="Arial" panose="020B0604020202020204" pitchFamily="34" charset="0"/>
                <a:ea typeface="Times New Roman" panose="02020603050405020304" pitchFamily="18" charset="0"/>
                <a:cs typeface="Arial" panose="020B0604020202020204" pitchFamily="34" charset="0"/>
              </a:rPr>
              <a:t>FIELD OF STUDY</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p>
            <a:pPr marL="0" marR="0">
              <a:spcBef>
                <a:spcPts val="0"/>
              </a:spcBef>
              <a:spcAft>
                <a:spcPts val="0"/>
              </a:spcAft>
            </a:pPr>
            <a:r>
              <a:rPr lang="en-US" sz="1600" dirty="0">
                <a:solidFill>
                  <a:srgbClr val="244061"/>
                </a:solidFill>
                <a:effectLst/>
                <a:latin typeface="Arial" panose="020B0604020202020204" pitchFamily="34" charset="0"/>
                <a:ea typeface="Times New Roman" panose="02020603050405020304" pitchFamily="18" charset="0"/>
                <a:cs typeface="Arial" panose="020B0604020202020204" pitchFamily="34" charset="0"/>
              </a:rPr>
              <a:t>	</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p>
            <a:pPr marL="0" marR="0" indent="457200" algn="just">
              <a:spcBef>
                <a:spcPts val="0"/>
              </a:spcBef>
              <a:spcAft>
                <a:spcPts val="0"/>
              </a:spcAft>
            </a:pPr>
            <a:r>
              <a:rPr lang="en-US" sz="1600" b="1" dirty="0">
                <a:solidFill>
                  <a:srgbClr val="244061"/>
                </a:solidFill>
                <a:effectLst/>
                <a:latin typeface="Arial" panose="020B0604020202020204" pitchFamily="34" charset="0"/>
                <a:ea typeface="Times New Roman" panose="02020603050405020304" pitchFamily="18" charset="0"/>
                <a:cs typeface="Arial" panose="020B0604020202020204" pitchFamily="34" charset="0"/>
              </a:rPr>
              <a:t>Major Subject: Biomedical </a:t>
            </a:r>
            <a:r>
              <a:rPr lang="en-US" sz="1600" b="1" dirty="0">
                <a:solidFill>
                  <a:srgbClr val="244061"/>
                </a:solidFill>
                <a:latin typeface="Arial" panose="020B0604020202020204" pitchFamily="34" charset="0"/>
                <a:ea typeface="Times New Roman" panose="02020603050405020304" pitchFamily="18" charset="0"/>
                <a:cs typeface="Arial" panose="020B0604020202020204" pitchFamily="34" charset="0"/>
              </a:rPr>
              <a:t>Research</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p>
            <a:pPr marL="0" marR="0" indent="457200">
              <a:spcBef>
                <a:spcPts val="0"/>
              </a:spcBef>
              <a:spcAft>
                <a:spcPts val="0"/>
              </a:spcAft>
            </a:pPr>
            <a:r>
              <a:rPr lang="en-US" sz="1300" dirty="0">
                <a:solidFill>
                  <a:srgbClr val="244061"/>
                </a:solidFill>
                <a:effectLst/>
                <a:latin typeface="Arial" panose="020B0604020202020204" pitchFamily="34" charset="0"/>
                <a:ea typeface="Times New Roman" panose="02020603050405020304" pitchFamily="18" charset="0"/>
                <a:cs typeface="Arial" panose="020B0604020202020204" pitchFamily="34" charset="0"/>
              </a:rPr>
              <a:t>Human Biology</a:t>
            </a:r>
          </a:p>
          <a:p>
            <a:pPr marL="0" marR="0" indent="457200">
              <a:spcBef>
                <a:spcPts val="0"/>
              </a:spcBef>
              <a:spcAft>
                <a:spcPts val="0"/>
              </a:spcAft>
            </a:pPr>
            <a:r>
              <a:rPr lang="en-US" sz="1300" dirty="0">
                <a:solidFill>
                  <a:srgbClr val="244061"/>
                </a:solidFill>
                <a:effectLst/>
                <a:latin typeface="Arial" panose="020B0604020202020204" pitchFamily="34" charset="0"/>
                <a:ea typeface="Times New Roman" panose="02020603050405020304" pitchFamily="18" charset="0"/>
                <a:cs typeface="Arial" panose="020B0604020202020204" pitchFamily="34" charset="0"/>
              </a:rPr>
              <a:t>Graduate Biochemistry</a:t>
            </a:r>
          </a:p>
          <a:p>
            <a:pPr marL="0" marR="0" indent="457200">
              <a:spcBef>
                <a:spcPts val="0"/>
              </a:spcBef>
              <a:spcAft>
                <a:spcPts val="0"/>
              </a:spcAft>
            </a:pPr>
            <a:r>
              <a:rPr lang="en-US" sz="1300" dirty="0">
                <a:solidFill>
                  <a:srgbClr val="244061"/>
                </a:solidFill>
                <a:latin typeface="Arial" panose="020B0604020202020204" pitchFamily="34" charset="0"/>
                <a:ea typeface="Times New Roman" panose="02020603050405020304" pitchFamily="18" charset="0"/>
                <a:cs typeface="Arial" panose="020B0604020202020204" pitchFamily="34" charset="0"/>
              </a:rPr>
              <a:t>Biochemistry Lab</a:t>
            </a:r>
            <a:endParaRPr lang="en-US" sz="1300" dirty="0">
              <a:solidFill>
                <a:srgbClr val="244061"/>
              </a:solidFill>
              <a:effectLst/>
              <a:latin typeface="Arial" panose="020B0604020202020204" pitchFamily="34" charset="0"/>
              <a:ea typeface="Times New Roman" panose="02020603050405020304" pitchFamily="18" charset="0"/>
              <a:cs typeface="Arial" panose="020B0604020202020204" pitchFamily="34" charset="0"/>
            </a:endParaRPr>
          </a:p>
          <a:p>
            <a:pPr marL="0" marR="0" indent="457200">
              <a:spcBef>
                <a:spcPts val="0"/>
              </a:spcBef>
              <a:spcAft>
                <a:spcPts val="0"/>
              </a:spcAft>
            </a:pPr>
            <a:r>
              <a:rPr lang="en-US" sz="1300" dirty="0">
                <a:solidFill>
                  <a:srgbClr val="244061"/>
                </a:solidFill>
                <a:effectLst/>
                <a:latin typeface="Arial" panose="020B0604020202020204" pitchFamily="34" charset="0"/>
                <a:ea typeface="Times New Roman" panose="02020603050405020304" pitchFamily="18" charset="0"/>
                <a:cs typeface="Arial" panose="020B0604020202020204" pitchFamily="34" charset="0"/>
              </a:rPr>
              <a:t>Biomedical Genetics and Genomics</a:t>
            </a:r>
            <a:endParaRPr lang="en-US" sz="1300" dirty="0">
              <a:effectLst/>
              <a:latin typeface="Arial" panose="020B0604020202020204" pitchFamily="34" charset="0"/>
              <a:ea typeface="Times New Roman" panose="02020603050405020304" pitchFamily="18" charset="0"/>
              <a:cs typeface="Arial" panose="020B0604020202020204" pitchFamily="34" charset="0"/>
            </a:endParaRPr>
          </a:p>
          <a:p>
            <a:pPr marL="0" marR="0" indent="457200">
              <a:spcBef>
                <a:spcPts val="0"/>
              </a:spcBef>
              <a:spcAft>
                <a:spcPts val="0"/>
              </a:spcAft>
            </a:pPr>
            <a:r>
              <a:rPr lang="en-US" sz="1300" dirty="0">
                <a:solidFill>
                  <a:srgbClr val="244061"/>
                </a:solidFill>
                <a:effectLst/>
                <a:latin typeface="Arial" panose="020B0604020202020204" pitchFamily="34" charset="0"/>
                <a:ea typeface="Times New Roman" panose="02020603050405020304" pitchFamily="18" charset="0"/>
                <a:cs typeface="Arial" panose="020B0604020202020204" pitchFamily="34" charset="0"/>
              </a:rPr>
              <a:t>Biomedical Genetics Laboratory</a:t>
            </a:r>
          </a:p>
          <a:p>
            <a:pPr indent="457200"/>
            <a:r>
              <a:rPr lang="en-US" sz="1300" dirty="0">
                <a:solidFill>
                  <a:srgbClr val="244061"/>
                </a:solidFill>
                <a:latin typeface="Arial" panose="020B0604020202020204" pitchFamily="34" charset="0"/>
                <a:ea typeface="Times New Roman" panose="02020603050405020304" pitchFamily="18" charset="0"/>
                <a:cs typeface="Arial" panose="020B0604020202020204" pitchFamily="34" charset="0"/>
              </a:rPr>
              <a:t>Integrated Biomedical Science</a:t>
            </a:r>
            <a:endParaRPr lang="en-US" sz="1300" dirty="0">
              <a:latin typeface="Arial" panose="020B0604020202020204" pitchFamily="34" charset="0"/>
              <a:ea typeface="Times New Roman" panose="02020603050405020304" pitchFamily="18" charset="0"/>
              <a:cs typeface="Arial" panose="020B0604020202020204" pitchFamily="34" charset="0"/>
            </a:endParaRPr>
          </a:p>
          <a:p>
            <a:pPr marL="0" marR="0" indent="457200">
              <a:spcBef>
                <a:spcPts val="0"/>
              </a:spcBef>
              <a:spcAft>
                <a:spcPts val="0"/>
              </a:spcAft>
            </a:pPr>
            <a:r>
              <a:rPr lang="en-US" sz="1300" dirty="0">
                <a:solidFill>
                  <a:srgbClr val="244061"/>
                </a:solidFill>
                <a:latin typeface="Arial" panose="020B0604020202020204" pitchFamily="34" charset="0"/>
                <a:ea typeface="Times New Roman" panose="02020603050405020304" pitchFamily="18" charset="0"/>
                <a:cs typeface="Arial" panose="020B0604020202020204" pitchFamily="34" charset="0"/>
              </a:rPr>
              <a:t>Sleep and Circadian Rhythms</a:t>
            </a:r>
            <a:endParaRPr lang="en-US" sz="1300" dirty="0">
              <a:solidFill>
                <a:srgbClr val="244061"/>
              </a:solidFill>
              <a:effectLst/>
              <a:latin typeface="Arial" panose="020B0604020202020204" pitchFamily="34" charset="0"/>
              <a:ea typeface="Times New Roman" panose="02020603050405020304" pitchFamily="18" charset="0"/>
              <a:cs typeface="Arial" panose="020B0604020202020204" pitchFamily="34" charset="0"/>
            </a:endParaRPr>
          </a:p>
          <a:p>
            <a:pPr marL="0" marR="0" indent="457200">
              <a:spcBef>
                <a:spcPts val="0"/>
              </a:spcBef>
              <a:spcAft>
                <a:spcPts val="0"/>
              </a:spcAft>
            </a:pPr>
            <a:r>
              <a:rPr lang="en-US" sz="1300" dirty="0">
                <a:solidFill>
                  <a:srgbClr val="244061"/>
                </a:solidFill>
                <a:latin typeface="Arial" panose="020B0604020202020204" pitchFamily="34" charset="0"/>
                <a:ea typeface="Times New Roman" panose="02020603050405020304" pitchFamily="18" charset="0"/>
                <a:cs typeface="Arial" panose="020B0604020202020204" pitchFamily="34" charset="0"/>
              </a:rPr>
              <a:t>Essentials in Neuroscience II &amp; III</a:t>
            </a:r>
            <a:endParaRPr lang="en-US" sz="1300" dirty="0">
              <a:effectLst/>
              <a:latin typeface="Arial" panose="020B0604020202020204" pitchFamily="34" charset="0"/>
              <a:ea typeface="Times New Roman" panose="02020603050405020304" pitchFamily="18" charset="0"/>
              <a:cs typeface="Arial" panose="020B0604020202020204" pitchFamily="34" charset="0"/>
            </a:endParaRPr>
          </a:p>
          <a:p>
            <a:pPr indent="457200"/>
            <a:r>
              <a:rPr lang="en-US" sz="1300" dirty="0">
                <a:solidFill>
                  <a:srgbClr val="244061"/>
                </a:solidFill>
                <a:latin typeface="Arial" panose="020B0604020202020204" pitchFamily="34" charset="0"/>
                <a:ea typeface="Times New Roman" panose="02020603050405020304" pitchFamily="18" charset="0"/>
                <a:cs typeface="Arial" panose="020B0604020202020204" pitchFamily="34" charset="0"/>
              </a:rPr>
              <a:t>Scientific Integrity</a:t>
            </a:r>
            <a:endParaRPr lang="en-US" sz="1300" dirty="0">
              <a:latin typeface="Arial" panose="020B0604020202020204" pitchFamily="34" charset="0"/>
              <a:ea typeface="Times New Roman" panose="02020603050405020304" pitchFamily="18" charset="0"/>
              <a:cs typeface="Arial" panose="020B0604020202020204" pitchFamily="34" charset="0"/>
            </a:endParaRPr>
          </a:p>
          <a:p>
            <a:pPr marL="0" marR="0" indent="457200">
              <a:spcBef>
                <a:spcPts val="0"/>
              </a:spcBef>
              <a:spcAft>
                <a:spcPts val="0"/>
              </a:spcAft>
            </a:pPr>
            <a:r>
              <a:rPr lang="en-US" sz="1300" dirty="0">
                <a:solidFill>
                  <a:srgbClr val="244061"/>
                </a:solidFill>
                <a:effectLst/>
                <a:latin typeface="Arial" panose="020B0604020202020204" pitchFamily="34" charset="0"/>
                <a:ea typeface="Times New Roman" panose="02020603050405020304" pitchFamily="18" charset="0"/>
                <a:cs typeface="Arial" panose="020B0604020202020204" pitchFamily="34" charset="0"/>
              </a:rPr>
              <a:t>Critical Thinking and Scientific Communication I &amp; II</a:t>
            </a:r>
            <a:endParaRPr lang="en-US" sz="1300" dirty="0">
              <a:effectLst/>
              <a:latin typeface="Arial" panose="020B0604020202020204" pitchFamily="34" charset="0"/>
              <a:ea typeface="Times New Roman" panose="02020603050405020304" pitchFamily="18" charset="0"/>
              <a:cs typeface="Arial" panose="020B0604020202020204" pitchFamily="34" charset="0"/>
            </a:endParaRPr>
          </a:p>
          <a:p>
            <a:pPr marL="0" marR="0" indent="457200">
              <a:spcBef>
                <a:spcPts val="0"/>
              </a:spcBef>
              <a:spcAft>
                <a:spcPts val="0"/>
              </a:spcAft>
            </a:pPr>
            <a:r>
              <a:rPr lang="en-US" sz="1300" dirty="0">
                <a:solidFill>
                  <a:srgbClr val="244061"/>
                </a:solidFill>
                <a:effectLst/>
                <a:latin typeface="Arial" panose="020B0604020202020204" pitchFamily="34" charset="0"/>
                <a:ea typeface="Times New Roman" panose="02020603050405020304" pitchFamily="18" charset="0"/>
                <a:cs typeface="Arial" panose="020B0604020202020204" pitchFamily="34" charset="0"/>
              </a:rPr>
              <a:t>Introduction to Data Science</a:t>
            </a:r>
            <a:endParaRPr lang="en-US" sz="1300" dirty="0">
              <a:effectLst/>
              <a:latin typeface="Arial" panose="020B0604020202020204" pitchFamily="34" charset="0"/>
              <a:ea typeface="Times New Roman" panose="02020603050405020304" pitchFamily="18" charset="0"/>
              <a:cs typeface="Arial" panose="020B0604020202020204" pitchFamily="34" charset="0"/>
            </a:endParaRPr>
          </a:p>
          <a:p>
            <a:pPr marL="0" marR="0" indent="457200">
              <a:spcBef>
                <a:spcPts val="0"/>
              </a:spcBef>
              <a:spcAft>
                <a:spcPts val="0"/>
              </a:spcAft>
            </a:pPr>
            <a:r>
              <a:rPr lang="en-US" sz="1300" dirty="0">
                <a:solidFill>
                  <a:srgbClr val="244061"/>
                </a:solidFill>
                <a:effectLst/>
                <a:latin typeface="Arial" panose="020B0604020202020204" pitchFamily="34" charset="0"/>
                <a:ea typeface="Times New Roman" panose="02020603050405020304" pitchFamily="18" charset="0"/>
                <a:cs typeface="Arial" panose="020B0604020202020204" pitchFamily="34" charset="0"/>
              </a:rPr>
              <a:t>Laboratory Rotation I &amp; II</a:t>
            </a:r>
          </a:p>
          <a:p>
            <a:pPr marL="0" marR="0" indent="457200">
              <a:spcBef>
                <a:spcPts val="0"/>
              </a:spcBef>
              <a:spcAft>
                <a:spcPts val="0"/>
              </a:spcAft>
            </a:pPr>
            <a:r>
              <a:rPr lang="en-US" sz="1300" dirty="0">
                <a:solidFill>
                  <a:srgbClr val="244061"/>
                </a:solidFill>
                <a:effectLst/>
                <a:latin typeface="Arial" panose="020B0604020202020204" pitchFamily="34" charset="0"/>
                <a:ea typeface="Times New Roman" panose="02020603050405020304" pitchFamily="18" charset="0"/>
                <a:cs typeface="Arial" panose="020B0604020202020204" pitchFamily="34" charset="0"/>
              </a:rPr>
              <a:t>Preparing a Research Proposal</a:t>
            </a:r>
            <a:endParaRPr lang="en-US" sz="1300" dirty="0">
              <a:effectLst/>
              <a:latin typeface="Arial" panose="020B0604020202020204" pitchFamily="34" charset="0"/>
              <a:ea typeface="Times New Roman" panose="02020603050405020304" pitchFamily="18" charset="0"/>
              <a:cs typeface="Arial" panose="020B0604020202020204" pitchFamily="34" charset="0"/>
            </a:endParaRPr>
          </a:p>
          <a:p>
            <a:pPr marL="0" marR="0" indent="457200">
              <a:spcBef>
                <a:spcPts val="0"/>
              </a:spcBef>
              <a:spcAft>
                <a:spcPts val="0"/>
              </a:spcAft>
            </a:pPr>
            <a:r>
              <a:rPr lang="en-US" sz="1300" dirty="0">
                <a:solidFill>
                  <a:srgbClr val="244061"/>
                </a:solidFill>
                <a:effectLst/>
                <a:latin typeface="Arial" panose="020B0604020202020204" pitchFamily="34" charset="0"/>
                <a:ea typeface="Times New Roman" panose="02020603050405020304" pitchFamily="18" charset="0"/>
                <a:cs typeface="Arial" panose="020B0604020202020204" pitchFamily="34" charset="0"/>
              </a:rPr>
              <a:t>Research Data Analysis</a:t>
            </a:r>
            <a:endParaRPr lang="en-US" sz="1300" dirty="0">
              <a:effectLst/>
              <a:latin typeface="Arial" panose="020B0604020202020204" pitchFamily="34" charset="0"/>
              <a:ea typeface="Times New Roman" panose="02020603050405020304" pitchFamily="18" charset="0"/>
              <a:cs typeface="Arial" panose="020B0604020202020204" pitchFamily="34" charset="0"/>
            </a:endParaRPr>
          </a:p>
          <a:p>
            <a:pPr indent="457200"/>
            <a:r>
              <a:rPr lang="en-US" sz="1300" dirty="0">
                <a:solidFill>
                  <a:srgbClr val="244061"/>
                </a:solidFill>
                <a:effectLst/>
                <a:latin typeface="Arial" panose="020B0604020202020204" pitchFamily="34" charset="0"/>
                <a:ea typeface="Times New Roman" panose="02020603050405020304" pitchFamily="18" charset="0"/>
                <a:cs typeface="Arial" panose="020B0604020202020204" pitchFamily="34" charset="0"/>
              </a:rPr>
              <a:t>Seminar in Biomedical Sciences I-VI</a:t>
            </a:r>
          </a:p>
          <a:p>
            <a:pPr indent="457200"/>
            <a:r>
              <a:rPr lang="en-US" sz="1300" dirty="0">
                <a:solidFill>
                  <a:srgbClr val="244061"/>
                </a:solidFill>
                <a:latin typeface="Arial" panose="020B0604020202020204" pitchFamily="34" charset="0"/>
                <a:ea typeface="Times New Roman" panose="02020603050405020304" pitchFamily="18" charset="0"/>
                <a:cs typeface="Arial" panose="020B0604020202020204" pitchFamily="34" charset="0"/>
              </a:rPr>
              <a:t>Biomedical Science Presentation I &amp; II</a:t>
            </a:r>
            <a:endParaRPr lang="en-US" sz="1300" dirty="0">
              <a:latin typeface="Arial" panose="020B0604020202020204" pitchFamily="34" charset="0"/>
              <a:ea typeface="Times New Roman" panose="02020603050405020304" pitchFamily="18" charset="0"/>
              <a:cs typeface="Arial" panose="020B0604020202020204" pitchFamily="34" charset="0"/>
            </a:endParaRPr>
          </a:p>
          <a:p>
            <a:pPr indent="457200"/>
            <a:r>
              <a:rPr lang="en-US" sz="1300" dirty="0">
                <a:solidFill>
                  <a:srgbClr val="244061"/>
                </a:solidFill>
                <a:latin typeface="Arial" panose="020B0604020202020204" pitchFamily="34" charset="0"/>
                <a:ea typeface="Times New Roman" panose="02020603050405020304" pitchFamily="18" charset="0"/>
                <a:cs typeface="Arial" panose="020B0604020202020204" pitchFamily="34" charset="0"/>
              </a:rPr>
              <a:t>Thesis Research</a:t>
            </a:r>
            <a:endParaRPr lang="en-US" sz="1300" dirty="0">
              <a:latin typeface="Arial" panose="020B0604020202020204" pitchFamily="34" charset="0"/>
              <a:ea typeface="Times New Roman" panose="02020603050405020304" pitchFamily="18" charset="0"/>
              <a:cs typeface="Arial" panose="020B0604020202020204" pitchFamily="34" charset="0"/>
            </a:endParaRPr>
          </a:p>
          <a:p>
            <a:pPr marL="0" marR="0" indent="457200">
              <a:spcBef>
                <a:spcPts val="0"/>
              </a:spcBef>
              <a:spcAft>
                <a:spcPts val="0"/>
              </a:spcAft>
            </a:pPr>
            <a:endParaRPr lang="en-US" sz="1300" dirty="0">
              <a:effectLst/>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505703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0184C642-B99E-15F0-BB6F-D77C37A48890}"/>
              </a:ext>
            </a:extLst>
          </p:cNvPr>
          <p:cNvSpPr txBox="1"/>
          <p:nvPr/>
        </p:nvSpPr>
        <p:spPr>
          <a:xfrm>
            <a:off x="274721" y="1387539"/>
            <a:ext cx="6807398" cy="2062103"/>
          </a:xfrm>
          <a:prstGeom prst="rect">
            <a:avLst/>
          </a:prstGeom>
          <a:noFill/>
        </p:spPr>
        <p:txBody>
          <a:bodyPr wrap="square">
            <a:spAutoFit/>
          </a:bodyPr>
          <a:lstStyle/>
          <a:p>
            <a:pPr marL="0" marR="0" algn="ctr">
              <a:spcBef>
                <a:spcPts val="0"/>
              </a:spcBef>
              <a:spcAft>
                <a:spcPts val="0"/>
              </a:spcAft>
            </a:pPr>
            <a:r>
              <a:rPr lang="en-US" b="1" dirty="0">
                <a:solidFill>
                  <a:srgbClr val="244061"/>
                </a:solidFill>
                <a:effectLst/>
                <a:latin typeface="Aril"/>
                <a:ea typeface="Times New Roman" panose="02020603050405020304" pitchFamily="18" charset="0"/>
              </a:rPr>
              <a:t>Research Focus:</a:t>
            </a:r>
            <a:r>
              <a:rPr lang="en-US" dirty="0">
                <a:solidFill>
                  <a:srgbClr val="244061"/>
                </a:solidFill>
                <a:effectLst/>
                <a:latin typeface="Aril"/>
                <a:ea typeface="Times New Roman" panose="02020603050405020304" pitchFamily="18" charset="0"/>
              </a:rPr>
              <a:t> </a:t>
            </a:r>
            <a:r>
              <a:rPr lang="en-US" i="1" dirty="0">
                <a:effectLst/>
                <a:latin typeface="Aril"/>
                <a:ea typeface="Times New Roman" panose="02020603050405020304" pitchFamily="18" charset="0"/>
              </a:rPr>
              <a:t>Examining Changes in Mouse Cortical Network Dynamics Due to Sleep Deprivation</a:t>
            </a:r>
          </a:p>
          <a:p>
            <a:pPr marL="0" marR="0" algn="ctr">
              <a:spcBef>
                <a:spcPts val="0"/>
              </a:spcBef>
              <a:spcAft>
                <a:spcPts val="0"/>
              </a:spcAft>
            </a:pPr>
            <a:r>
              <a:rPr lang="en-US" sz="1200" b="1" dirty="0">
                <a:solidFill>
                  <a:srgbClr val="244061"/>
                </a:solidFill>
                <a:effectLst/>
                <a:latin typeface="Aril"/>
                <a:ea typeface="Times New Roman" panose="02020603050405020304" pitchFamily="18" charset="0"/>
              </a:rPr>
              <a:t> </a:t>
            </a:r>
            <a:endParaRPr lang="en-US" sz="1200" dirty="0">
              <a:effectLst/>
              <a:latin typeface="Aril"/>
              <a:ea typeface="Times New Roman" panose="02020603050405020304" pitchFamily="18" charset="0"/>
            </a:endParaRPr>
          </a:p>
          <a:p>
            <a:pPr marL="0" marR="0" algn="ctr">
              <a:spcBef>
                <a:spcPts val="0"/>
              </a:spcBef>
              <a:spcAft>
                <a:spcPts val="0"/>
              </a:spcAft>
            </a:pPr>
            <a:r>
              <a:rPr lang="en-US" sz="1600" b="1" dirty="0">
                <a:solidFill>
                  <a:srgbClr val="244061"/>
                </a:solidFill>
                <a:effectLst/>
                <a:latin typeface="Aril"/>
                <a:ea typeface="Times New Roman" panose="02020603050405020304" pitchFamily="18" charset="0"/>
              </a:rPr>
              <a:t>BIOGRAPHICAL SKETCH </a:t>
            </a:r>
            <a:endParaRPr lang="en-US" sz="1600" b="1" dirty="0">
              <a:effectLst/>
              <a:latin typeface="Aril"/>
              <a:ea typeface="Times New Roman" panose="02020603050405020304" pitchFamily="18" charset="0"/>
            </a:endParaRPr>
          </a:p>
          <a:p>
            <a:pPr marL="457200" marR="457200">
              <a:spcBef>
                <a:spcPts val="0"/>
              </a:spcBef>
              <a:spcAft>
                <a:spcPts val="0"/>
              </a:spcAft>
            </a:pPr>
            <a:r>
              <a:rPr lang="en-US" sz="1400" b="1" dirty="0">
                <a:solidFill>
                  <a:srgbClr val="244061"/>
                </a:solidFill>
                <a:effectLst/>
                <a:latin typeface="Aril"/>
                <a:ea typeface="Times New Roman" panose="02020603050405020304" pitchFamily="18" charset="0"/>
              </a:rPr>
              <a:t>Undergraduate Study:</a:t>
            </a:r>
          </a:p>
          <a:p>
            <a:pPr lvl="0"/>
            <a:r>
              <a:rPr lang="en-US" sz="1200" dirty="0">
                <a:latin typeface="Arial" panose="020B0604020202020204" pitchFamily="34" charset="0"/>
                <a:cs typeface="Arial" panose="020B0604020202020204" pitchFamily="34" charset="0"/>
              </a:rPr>
              <a:t>	</a:t>
            </a:r>
            <a:r>
              <a:rPr lang="en-US" sz="1200" b="1" dirty="0">
                <a:latin typeface="Arial" panose="020B0604020202020204" pitchFamily="34" charset="0"/>
                <a:cs typeface="Arial" panose="020B0604020202020204" pitchFamily="34" charset="0"/>
              </a:rPr>
              <a:t>BS in Biomedical Engineering </a:t>
            </a:r>
            <a:r>
              <a:rPr lang="en-US" sz="1200" dirty="0">
                <a:latin typeface="Arial" panose="020B0604020202020204" pitchFamily="34" charset="0"/>
                <a:cs typeface="Arial" panose="020B0604020202020204" pitchFamily="34" charset="0"/>
              </a:rPr>
              <a:t>| 2015-2019 | Georgia Institute of Technology, GA  </a:t>
            </a:r>
          </a:p>
          <a:p>
            <a:pPr marL="457200" marR="457200">
              <a:spcBef>
                <a:spcPts val="0"/>
              </a:spcBef>
              <a:spcAft>
                <a:spcPts val="0"/>
              </a:spcAft>
            </a:pPr>
            <a:r>
              <a:rPr lang="en-US" sz="1200" b="1" dirty="0">
                <a:solidFill>
                  <a:srgbClr val="244061"/>
                </a:solidFill>
                <a:effectLst/>
                <a:latin typeface="Aril"/>
                <a:ea typeface="Times New Roman" panose="02020603050405020304" pitchFamily="18" charset="0"/>
              </a:rPr>
              <a:t> </a:t>
            </a:r>
            <a:endParaRPr lang="en-US" sz="1200" dirty="0">
              <a:effectLst/>
              <a:latin typeface="Aril"/>
              <a:ea typeface="Times New Roman" panose="02020603050405020304" pitchFamily="18" charset="0"/>
            </a:endParaRPr>
          </a:p>
          <a:p>
            <a:pPr marL="457200" marR="457200">
              <a:spcBef>
                <a:spcPts val="0"/>
              </a:spcBef>
              <a:spcAft>
                <a:spcPts val="0"/>
              </a:spcAft>
            </a:pPr>
            <a:r>
              <a:rPr lang="en-US" sz="1400" b="1" dirty="0">
                <a:solidFill>
                  <a:srgbClr val="244061"/>
                </a:solidFill>
                <a:effectLst/>
                <a:latin typeface="Aril"/>
                <a:ea typeface="Times New Roman" panose="02020603050405020304" pitchFamily="18" charset="0"/>
              </a:rPr>
              <a:t>Graduate Study:</a:t>
            </a:r>
            <a:endParaRPr lang="en-US" sz="1400" dirty="0">
              <a:effectLst/>
              <a:latin typeface="Aril"/>
              <a:ea typeface="Times New Roman" panose="02020603050405020304" pitchFamily="18" charset="0"/>
            </a:endParaRPr>
          </a:p>
          <a:p>
            <a:pPr lvl="0"/>
            <a:r>
              <a:rPr lang="en-US" sz="1200" b="1" dirty="0">
                <a:latin typeface="Arial" panose="020B0604020202020204" pitchFamily="34" charset="0"/>
                <a:cs typeface="Arial" panose="020B0604020202020204" pitchFamily="34" charset="0"/>
              </a:rPr>
              <a:t>	MSBR Candidate </a:t>
            </a:r>
            <a:r>
              <a:rPr lang="en-US" sz="1200" dirty="0">
                <a:latin typeface="Arial" panose="020B0604020202020204" pitchFamily="34" charset="0"/>
                <a:cs typeface="Arial" panose="020B0604020202020204" pitchFamily="34" charset="0"/>
              </a:rPr>
              <a:t>| 2020-Present | Morehouse School of Medicine (MSM)-Atlanta, GA</a:t>
            </a:r>
          </a:p>
        </p:txBody>
      </p:sp>
      <p:sp>
        <p:nvSpPr>
          <p:cNvPr id="14" name="TextBox 13">
            <a:extLst>
              <a:ext uri="{FF2B5EF4-FFF2-40B4-BE49-F238E27FC236}">
                <a16:creationId xmlns:a16="http://schemas.microsoft.com/office/drawing/2014/main" id="{D3FC3EB7-8D01-D4F6-4D1C-BDF58E0D549F}"/>
              </a:ext>
            </a:extLst>
          </p:cNvPr>
          <p:cNvSpPr txBox="1"/>
          <p:nvPr/>
        </p:nvSpPr>
        <p:spPr>
          <a:xfrm>
            <a:off x="274721" y="3745296"/>
            <a:ext cx="7089913" cy="5816977"/>
          </a:xfrm>
          <a:prstGeom prst="rect">
            <a:avLst/>
          </a:prstGeom>
          <a:noFill/>
        </p:spPr>
        <p:txBody>
          <a:bodyPr wrap="square">
            <a:spAutoFit/>
          </a:bodyPr>
          <a:lstStyle/>
          <a:p>
            <a:pPr marL="457200" marR="457200" algn="just">
              <a:spcBef>
                <a:spcPts val="0"/>
              </a:spcBef>
              <a:spcAft>
                <a:spcPts val="0"/>
              </a:spcAft>
            </a:pPr>
            <a:r>
              <a:rPr lang="en-US" sz="1200" b="1" dirty="0">
                <a:solidFill>
                  <a:srgbClr val="244061"/>
                </a:solidFill>
                <a:effectLst/>
                <a:latin typeface="Arial" panose="020B0604020202020204" pitchFamily="34" charset="0"/>
                <a:ea typeface="Times New Roman" panose="02020603050405020304" pitchFamily="18" charset="0"/>
                <a:cs typeface="Arial" panose="020B0604020202020204" pitchFamily="34" charset="0"/>
              </a:rPr>
              <a:t>AWARDS &amp; HONORS</a:t>
            </a:r>
          </a:p>
          <a:p>
            <a:pPr marL="628650" marR="457200" indent="-171450" algn="just">
              <a:spcBef>
                <a:spcPts val="0"/>
              </a:spcBef>
              <a:spcAft>
                <a:spcPts val="0"/>
              </a:spcAft>
              <a:buFont typeface="Arial" panose="020B0604020202020204" pitchFamily="34" charset="0"/>
              <a:buChar char="•"/>
            </a:pPr>
            <a:r>
              <a:rPr lang="en-US" sz="1200" dirty="0">
                <a:latin typeface="Arial" panose="020B0604020202020204" pitchFamily="34" charset="0"/>
                <a:cs typeface="Arial" panose="020B0604020202020204" pitchFamily="34" charset="0"/>
              </a:rPr>
              <a:t>Rising Star Award in Doctor of Philosophy in Biomedical Sciences | 2021 | MSM-Atlanta, GA</a:t>
            </a:r>
          </a:p>
          <a:p>
            <a:pPr marL="628650" marR="457200" indent="-171450" algn="just">
              <a:spcBef>
                <a:spcPts val="0"/>
              </a:spcBef>
              <a:spcAft>
                <a:spcPts val="0"/>
              </a:spcAft>
              <a:buFont typeface="Arial" panose="020B0604020202020204" pitchFamily="34" charset="0"/>
              <a:buChar char="•"/>
            </a:pPr>
            <a:r>
              <a:rPr lang="en-US" sz="1200" dirty="0">
                <a:latin typeface="Arial" panose="020B0604020202020204" pitchFamily="34" charset="0"/>
                <a:cs typeface="Arial" panose="020B0604020202020204" pitchFamily="34" charset="0"/>
              </a:rPr>
              <a:t>Biochemistry Lab, Critical Thinking and Scientific Communication II, and Intro to Data Science - Certificates of Outstanding Academic Performance | 2021 | MSM-Atlanta, GA</a:t>
            </a:r>
          </a:p>
          <a:p>
            <a:pPr marL="628650" marR="457200" indent="-171450" algn="just">
              <a:buFont typeface="Arial" panose="020B0604020202020204" pitchFamily="34" charset="0"/>
              <a:buChar char="•"/>
            </a:pPr>
            <a:r>
              <a:rPr lang="en-US" sz="1200" dirty="0">
                <a:latin typeface="Arial" panose="020B0604020202020204" pitchFamily="34" charset="0"/>
                <a:cs typeface="Arial" panose="020B0604020202020204" pitchFamily="34" charset="0"/>
              </a:rPr>
              <a:t>Society of Research on Biological Rhythms Merit Award | 2024 | San Juan, PR</a:t>
            </a:r>
          </a:p>
          <a:p>
            <a:pPr marL="457200" marR="457200" algn="just"/>
            <a:endParaRPr lang="en-US" sz="1200" b="1" dirty="0">
              <a:solidFill>
                <a:srgbClr val="244061"/>
              </a:solidFill>
              <a:latin typeface="Arial" panose="020B0604020202020204" pitchFamily="34" charset="0"/>
              <a:ea typeface="Times New Roman" panose="02020603050405020304" pitchFamily="18" charset="0"/>
              <a:cs typeface="Arial" panose="020B0604020202020204" pitchFamily="34" charset="0"/>
            </a:endParaRPr>
          </a:p>
          <a:p>
            <a:pPr marL="457200" marR="457200" algn="just"/>
            <a:r>
              <a:rPr lang="en-US" sz="1200" b="1" dirty="0">
                <a:solidFill>
                  <a:srgbClr val="244061"/>
                </a:solidFill>
                <a:latin typeface="Arial" panose="020B0604020202020204" pitchFamily="34" charset="0"/>
                <a:ea typeface="Times New Roman" panose="02020603050405020304" pitchFamily="18" charset="0"/>
                <a:cs typeface="Arial" panose="020B0604020202020204" pitchFamily="34" charset="0"/>
              </a:rPr>
              <a:t>PRESENTATIONS</a:t>
            </a:r>
          </a:p>
          <a:p>
            <a:pPr marL="628650" lvl="1" indent="-171450" algn="just">
              <a:buFont typeface="Arial" panose="020B0604020202020204" pitchFamily="34" charset="0"/>
              <a:buChar char="•"/>
            </a:pPr>
            <a:r>
              <a:rPr lang="en-US" sz="1200" dirty="0">
                <a:latin typeface="Arial" panose="020B0604020202020204" pitchFamily="34" charset="0"/>
                <a:cs typeface="Arial" panose="020B0604020202020204" pitchFamily="34" charset="0"/>
              </a:rPr>
              <a:t>Biomedical Engineering Society Annual Meeting | 2018 | Atlanta, GA</a:t>
            </a:r>
          </a:p>
          <a:p>
            <a:pPr marL="1085850" lvl="2" indent="-171450" algn="just">
              <a:buFont typeface="Arial" panose="020B0604020202020204" pitchFamily="34" charset="0"/>
              <a:buChar char="•"/>
            </a:pPr>
            <a:r>
              <a:rPr lang="en-US" sz="1200" dirty="0">
                <a:latin typeface="Arial" panose="020B0604020202020204" pitchFamily="34" charset="0"/>
                <a:cs typeface="Arial" panose="020B0604020202020204" pitchFamily="34" charset="0"/>
              </a:rPr>
              <a:t>Poster: “Gait Outcome after Repetitive Mild Traumatic Brain Injury Varies by Sex”</a:t>
            </a:r>
          </a:p>
          <a:p>
            <a:pPr marL="628650" lvl="1" indent="-171450" algn="just">
              <a:buFont typeface="Arial" panose="020B0604020202020204" pitchFamily="34" charset="0"/>
              <a:buChar char="•"/>
            </a:pPr>
            <a:r>
              <a:rPr lang="en-US" sz="1200" dirty="0">
                <a:latin typeface="Arial" panose="020B0604020202020204" pitchFamily="34" charset="0"/>
                <a:cs typeface="Arial" panose="020B0604020202020204" pitchFamily="34" charset="0"/>
              </a:rPr>
              <a:t>National Neurotrauma Symposium | 2019 | Pittsburgh, PA</a:t>
            </a:r>
          </a:p>
          <a:p>
            <a:pPr marL="1085850" lvl="2" indent="-171450" algn="just">
              <a:buFont typeface="Arial" panose="020B0604020202020204" pitchFamily="34" charset="0"/>
              <a:buChar char="•"/>
            </a:pPr>
            <a:r>
              <a:rPr lang="en-US" sz="1200" dirty="0">
                <a:latin typeface="Arial" panose="020B0604020202020204" pitchFamily="34" charset="0"/>
                <a:cs typeface="Arial" panose="020B0604020202020204" pitchFamily="34" charset="0"/>
              </a:rPr>
              <a:t>Poster: “Gait Analysis of Male and Female Rats after Repeated Mild Traumatic Brain Injury”</a:t>
            </a:r>
          </a:p>
          <a:p>
            <a:pPr marL="628650" lvl="1" indent="-171450" algn="just">
              <a:buFont typeface="Arial" panose="020B0604020202020204" pitchFamily="34" charset="0"/>
              <a:buChar char="•"/>
            </a:pPr>
            <a:r>
              <a:rPr lang="en-US" sz="1200" dirty="0">
                <a:latin typeface="Arial" panose="020B0604020202020204" pitchFamily="34" charset="0"/>
                <a:cs typeface="Arial" panose="020B0604020202020204" pitchFamily="34" charset="0"/>
              </a:rPr>
              <a:t>Dr. Curtis L. Parker Student Research Symposium | 2022 | MSM-Atlanta, GA</a:t>
            </a:r>
          </a:p>
          <a:p>
            <a:pPr marL="1085850" lvl="2" indent="-171450" algn="just">
              <a:buFont typeface="Arial" panose="020B0604020202020204" pitchFamily="34" charset="0"/>
              <a:buChar char="•"/>
            </a:pPr>
            <a:r>
              <a:rPr lang="en-US" sz="1200" dirty="0">
                <a:latin typeface="Arial" panose="020B0604020202020204" pitchFamily="34" charset="0"/>
                <a:cs typeface="Arial" panose="020B0604020202020204" pitchFamily="34" charset="0"/>
              </a:rPr>
              <a:t>Poster: “In Vivo Fluorescent Imaging of Mouse Medial Prefrontal Cortex to Investigate Sleep Pressure”</a:t>
            </a:r>
          </a:p>
          <a:p>
            <a:pPr marL="628650" lvl="1" indent="-171450" algn="just">
              <a:buFont typeface="Arial" panose="020B0604020202020204" pitchFamily="34" charset="0"/>
              <a:buChar char="•"/>
            </a:pPr>
            <a:r>
              <a:rPr lang="en-US" sz="1200" dirty="0">
                <a:latin typeface="Arial" panose="020B0604020202020204" pitchFamily="34" charset="0"/>
                <a:cs typeface="Arial" panose="020B0604020202020204" pitchFamily="34" charset="0"/>
              </a:rPr>
              <a:t>Society for Research on Biological Rhythms Biennial Meeting | 2024 | San Juan, PR</a:t>
            </a:r>
          </a:p>
          <a:p>
            <a:pPr marL="1085850" lvl="2" indent="-171450" algn="just">
              <a:buFont typeface="Arial" panose="020B0604020202020204" pitchFamily="34" charset="0"/>
              <a:buChar char="•"/>
            </a:pPr>
            <a:r>
              <a:rPr lang="en-US" sz="1200" dirty="0">
                <a:latin typeface="Arial" panose="020B0604020202020204" pitchFamily="34" charset="0"/>
                <a:cs typeface="Arial" panose="020B0604020202020204" pitchFamily="34" charset="0"/>
              </a:rPr>
              <a:t>Poster “Network Analysis of In Vivo Prefrontal Cortical Neuron Activity in Rested and Sleep-Deprived Mice Collected via Miniature Fluorescence Microscopy”</a:t>
            </a:r>
          </a:p>
          <a:p>
            <a:pPr algn="just"/>
            <a:r>
              <a:rPr lang="en-US" sz="1200" dirty="0">
                <a:latin typeface="Arial" panose="020B0604020202020204" pitchFamily="34" charset="0"/>
                <a:cs typeface="Arial" panose="020B0604020202020204" pitchFamily="34" charset="0"/>
              </a:rPr>
              <a:t>	</a:t>
            </a:r>
          </a:p>
          <a:p>
            <a:pPr algn="just"/>
            <a:r>
              <a:rPr lang="en-US" sz="1200" b="1" dirty="0">
                <a:solidFill>
                  <a:srgbClr val="244061"/>
                </a:solidFill>
                <a:latin typeface="Arial" panose="020B0604020202020204" pitchFamily="34" charset="0"/>
                <a:ea typeface="Times New Roman" panose="02020603050405020304" pitchFamily="18" charset="0"/>
                <a:cs typeface="Arial" panose="020B0604020202020204" pitchFamily="34" charset="0"/>
              </a:rPr>
              <a:t>	PUBLICATIONS</a:t>
            </a:r>
          </a:p>
          <a:p>
            <a:pPr marL="628650" lvl="1" indent="-171450" algn="just">
              <a:buFont typeface="Arial" panose="020B0604020202020204" pitchFamily="34" charset="0"/>
              <a:buChar char="•"/>
            </a:pPr>
            <a:r>
              <a:rPr lang="en-US" sz="1200" dirty="0" err="1">
                <a:latin typeface="Arial" panose="020B0604020202020204" pitchFamily="34" charset="0"/>
                <a:cs typeface="Arial" panose="020B0604020202020204" pitchFamily="34" charset="0"/>
              </a:rPr>
              <a:t>Stowie</a:t>
            </a:r>
            <a:r>
              <a:rPr lang="en-US" sz="1200" dirty="0">
                <a:latin typeface="Arial" panose="020B0604020202020204" pitchFamily="34" charset="0"/>
                <a:cs typeface="Arial" panose="020B0604020202020204" pitchFamily="34" charset="0"/>
              </a:rPr>
              <a:t> A, Qiao Z, Buonfiglio DDC, Beckner DM, Ehlen JC, Benveniste M, Davidson AJ. Arginine-vasopressin-expressing neurons in the murine suprachiasmatic nucleus exhibit a circadian rhythm in network coherence in vivo. Proc Natl Acad Sci U S A. 2023 Jan 24;120(4):e2209329120. </a:t>
            </a:r>
            <a:r>
              <a:rPr lang="en-US" sz="1200" dirty="0" err="1">
                <a:latin typeface="Arial" panose="020B0604020202020204" pitchFamily="34" charset="0"/>
                <a:cs typeface="Arial" panose="020B0604020202020204" pitchFamily="34" charset="0"/>
              </a:rPr>
              <a:t>doi</a:t>
            </a:r>
            <a:r>
              <a:rPr lang="en-US" sz="1200" dirty="0">
                <a:latin typeface="Arial" panose="020B0604020202020204" pitchFamily="34" charset="0"/>
                <a:cs typeface="Arial" panose="020B0604020202020204" pitchFamily="34" charset="0"/>
              </a:rPr>
              <a:t>: 10.1073/pnas.2209329120. </a:t>
            </a:r>
            <a:r>
              <a:rPr lang="en-US" sz="1200" dirty="0" err="1">
                <a:latin typeface="Arial" panose="020B0604020202020204" pitchFamily="34" charset="0"/>
                <a:cs typeface="Arial" panose="020B0604020202020204" pitchFamily="34" charset="0"/>
              </a:rPr>
              <a:t>Epub</a:t>
            </a:r>
            <a:r>
              <a:rPr lang="en-US" sz="1200" dirty="0">
                <a:latin typeface="Arial" panose="020B0604020202020204" pitchFamily="34" charset="0"/>
                <a:cs typeface="Arial" panose="020B0604020202020204" pitchFamily="34" charset="0"/>
              </a:rPr>
              <a:t> 2023 Jan 19. PMID: 36656857; PMCID: PMC9942887.</a:t>
            </a:r>
          </a:p>
          <a:p>
            <a:pPr algn="just"/>
            <a:endParaRPr lang="en-US" sz="1200" dirty="0">
              <a:latin typeface="Arial" panose="020B0604020202020204" pitchFamily="34" charset="0"/>
              <a:cs typeface="Arial" panose="020B0604020202020204" pitchFamily="34" charset="0"/>
            </a:endParaRPr>
          </a:p>
          <a:p>
            <a:pPr marL="457200" marR="457200" algn="just"/>
            <a:endParaRPr lang="en-US" sz="1200" b="1" dirty="0">
              <a:solidFill>
                <a:srgbClr val="244061"/>
              </a:solidFill>
              <a:latin typeface="Arial" panose="020B0604020202020204" pitchFamily="34" charset="0"/>
              <a:ea typeface="Times New Roman" panose="02020603050405020304" pitchFamily="18" charset="0"/>
              <a:cs typeface="Arial" panose="020B0604020202020204" pitchFamily="34" charset="0"/>
            </a:endParaRPr>
          </a:p>
          <a:p>
            <a:pPr marL="457200" marR="457200" algn="just"/>
            <a:endParaRPr lang="en-US" sz="1200" b="1" dirty="0">
              <a:solidFill>
                <a:srgbClr val="244061"/>
              </a:solidFill>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3083295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6BED2-76F7-60F4-97BF-EEA1D279B14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03AD036-FCC1-053E-85C9-3BB285C431D4}"/>
              </a:ext>
            </a:extLst>
          </p:cNvPr>
          <p:cNvSpPr/>
          <p:nvPr/>
        </p:nvSpPr>
        <p:spPr>
          <a:xfrm>
            <a:off x="278296" y="3485322"/>
            <a:ext cx="7089913" cy="4240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8425802-408A-4879-DAA2-CB6371F0F53B}"/>
              </a:ext>
            </a:extLst>
          </p:cNvPr>
          <p:cNvSpPr txBox="1"/>
          <p:nvPr/>
        </p:nvSpPr>
        <p:spPr>
          <a:xfrm>
            <a:off x="0" y="1677923"/>
            <a:ext cx="7089913" cy="1015663"/>
          </a:xfrm>
          <a:prstGeom prst="rect">
            <a:avLst/>
          </a:prstGeom>
          <a:noFill/>
        </p:spPr>
        <p:txBody>
          <a:bodyPr wrap="square">
            <a:spAutoFit/>
          </a:bodyPr>
          <a:lstStyle/>
          <a:p>
            <a:pPr marL="457200" marR="457200" algn="just"/>
            <a:r>
              <a:rPr lang="en-US" sz="1200" b="1" dirty="0">
                <a:solidFill>
                  <a:srgbClr val="244061"/>
                </a:solidFill>
                <a:effectLst/>
                <a:latin typeface="Arial" panose="020B0604020202020204" pitchFamily="34" charset="0"/>
                <a:ea typeface="Times New Roman" panose="02020603050405020304" pitchFamily="18" charset="0"/>
                <a:cs typeface="Arial" panose="020B0604020202020204" pitchFamily="34" charset="0"/>
              </a:rPr>
              <a:t>PUBLICATIONS CONTINUED</a:t>
            </a:r>
          </a:p>
          <a:p>
            <a:pPr marL="628650" lvl="1" indent="-171450" algn="just">
              <a:buFont typeface="Arial" panose="020B0604020202020204" pitchFamily="34" charset="0"/>
              <a:buChar char="•"/>
            </a:pPr>
            <a:r>
              <a:rPr lang="en-US" sz="1200" dirty="0">
                <a:effectLst/>
                <a:latin typeface="Arial" panose="020B0604020202020204" pitchFamily="34" charset="0"/>
                <a:ea typeface="Times New Roman" panose="02020603050405020304" pitchFamily="18" charset="0"/>
                <a:cs typeface="Arial" panose="020B0604020202020204" pitchFamily="34" charset="0"/>
              </a:rPr>
              <a:t>Davidson AJ, Beckner D, </a:t>
            </a:r>
            <a:r>
              <a:rPr lang="en-US" sz="1200" dirty="0" err="1">
                <a:effectLst/>
                <a:latin typeface="Arial" panose="020B0604020202020204" pitchFamily="34" charset="0"/>
                <a:ea typeface="Times New Roman" panose="02020603050405020304" pitchFamily="18" charset="0"/>
                <a:cs typeface="Arial" panose="020B0604020202020204" pitchFamily="34" charset="0"/>
              </a:rPr>
              <a:t>Bonnefont</a:t>
            </a:r>
            <a:r>
              <a:rPr lang="en-US" sz="1200" dirty="0">
                <a:effectLst/>
                <a:latin typeface="Arial" panose="020B0604020202020204" pitchFamily="34" charset="0"/>
                <a:ea typeface="Times New Roman" panose="02020603050405020304" pitchFamily="18" charset="0"/>
                <a:cs typeface="Arial" panose="020B0604020202020204" pitchFamily="34" charset="0"/>
              </a:rPr>
              <a:t> X. A Journey in the Brain's Clock: In Vivo Veritas?. Biology (Basel). 2023 Aug 15;12(8). </a:t>
            </a:r>
            <a:r>
              <a:rPr lang="en-US" sz="1200" dirty="0" err="1">
                <a:effectLst/>
                <a:latin typeface="Arial" panose="020B0604020202020204" pitchFamily="34" charset="0"/>
                <a:ea typeface="Times New Roman" panose="02020603050405020304" pitchFamily="18" charset="0"/>
                <a:cs typeface="Arial" panose="020B0604020202020204" pitchFamily="34" charset="0"/>
              </a:rPr>
              <a:t>doi</a:t>
            </a:r>
            <a:r>
              <a:rPr lang="en-US" sz="1200" dirty="0">
                <a:effectLst/>
                <a:latin typeface="Arial" panose="020B0604020202020204" pitchFamily="34" charset="0"/>
                <a:ea typeface="Times New Roman" panose="02020603050405020304" pitchFamily="18" charset="0"/>
                <a:cs typeface="Arial" panose="020B0604020202020204" pitchFamily="34" charset="0"/>
              </a:rPr>
              <a:t>: 10.3390/biology12081136. Review. PubMed PMID: 37627020; PubMed Central PMCID: PMC10452196.</a:t>
            </a:r>
          </a:p>
          <a:p>
            <a:pPr marL="457200" marR="457200" algn="just">
              <a:spcBef>
                <a:spcPts val="0"/>
              </a:spcBef>
              <a:spcAft>
                <a:spcPts val="0"/>
              </a:spcAft>
            </a:pP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16717017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BEC878B-6BF6-AD1F-AEEA-D0BD7E4C3FFD}"/>
              </a:ext>
            </a:extLst>
          </p:cNvPr>
          <p:cNvSpPr/>
          <p:nvPr/>
        </p:nvSpPr>
        <p:spPr>
          <a:xfrm>
            <a:off x="278296" y="3485322"/>
            <a:ext cx="7089913" cy="4240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2B8108A-4F1A-6A7C-CEBA-892C71D2631E}"/>
              </a:ext>
            </a:extLst>
          </p:cNvPr>
          <p:cNvSpPr txBox="1"/>
          <p:nvPr/>
        </p:nvSpPr>
        <p:spPr>
          <a:xfrm>
            <a:off x="139148" y="1594387"/>
            <a:ext cx="7494104" cy="7626703"/>
          </a:xfrm>
          <a:prstGeom prst="rect">
            <a:avLst/>
          </a:prstGeom>
          <a:noFill/>
        </p:spPr>
        <p:txBody>
          <a:bodyPr wrap="square">
            <a:spAutoFit/>
          </a:bodyPr>
          <a:lstStyle/>
          <a:p>
            <a:pPr marL="0" marR="429895" algn="ctr">
              <a:lnSpc>
                <a:spcPct val="115000"/>
              </a:lnSpc>
              <a:spcBef>
                <a:spcPts val="0"/>
              </a:spcBef>
              <a:spcAft>
                <a:spcPts val="0"/>
              </a:spcAft>
            </a:pPr>
            <a:r>
              <a:rPr lang="en-US" sz="1600" b="1" dirty="0">
                <a:solidFill>
                  <a:srgbClr val="244061"/>
                </a:solidFill>
                <a:latin typeface="Arial" panose="020B0604020202020204" pitchFamily="34" charset="0"/>
                <a:ea typeface="Times New Roman" panose="02020603050405020304" pitchFamily="18" charset="0"/>
                <a:cs typeface="Arial" panose="020B0604020202020204" pitchFamily="34" charset="0"/>
              </a:rPr>
              <a:t>THESIS</a:t>
            </a:r>
            <a:r>
              <a:rPr lang="en-US" sz="1600" b="1" dirty="0">
                <a:solidFill>
                  <a:srgbClr val="244061"/>
                </a:solidFill>
                <a:effectLst/>
                <a:latin typeface="Arial" panose="020B0604020202020204" pitchFamily="34" charset="0"/>
                <a:ea typeface="Times New Roman" panose="02020603050405020304" pitchFamily="18" charset="0"/>
                <a:cs typeface="Arial" panose="020B0604020202020204" pitchFamily="34" charset="0"/>
              </a:rPr>
              <a:t> ABSTRACT</a:t>
            </a:r>
          </a:p>
          <a:p>
            <a:pPr marL="0" marR="429895" algn="ctr">
              <a:lnSpc>
                <a:spcPct val="115000"/>
              </a:lnSpc>
              <a:spcBef>
                <a:spcPts val="0"/>
              </a:spcBef>
              <a:spcAft>
                <a:spcPts val="0"/>
              </a:spcAft>
            </a:pPr>
            <a:endParaRPr lang="en-US" sz="1200" dirty="0">
              <a:solidFill>
                <a:srgbClr val="244061"/>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US" sz="1100" dirty="0">
                <a:latin typeface="Arial" panose="020B0604020202020204" pitchFamily="34" charset="0"/>
                <a:cs typeface="Arial" panose="020B0604020202020204" pitchFamily="34" charset="0"/>
              </a:rPr>
              <a:t>Beckner, Delaney; BS, Morehouse School of Medicine, May 2026. Examining Changes in Mouse Cortical Network Dynamics Due to Sleep Deprivation, Chair of Committee: Alec J. Davidson</a:t>
            </a:r>
          </a:p>
          <a:p>
            <a:pPr algn="just"/>
            <a:r>
              <a:rPr lang="en-US" sz="1100" b="1" dirty="0">
                <a:latin typeface="Arial" panose="020B0604020202020204" pitchFamily="34" charset="0"/>
                <a:cs typeface="Arial" panose="020B0604020202020204" pitchFamily="34" charset="0"/>
              </a:rPr>
              <a:t> </a:t>
            </a:r>
            <a:endParaRPr lang="en-US" sz="1100" dirty="0">
              <a:latin typeface="Arial" panose="020B0604020202020204" pitchFamily="34" charset="0"/>
              <a:cs typeface="Arial" panose="020B0604020202020204" pitchFamily="34" charset="0"/>
            </a:endParaRPr>
          </a:p>
          <a:p>
            <a:pPr algn="just"/>
            <a:r>
              <a:rPr lang="en-US" sz="1050" b="1" dirty="0">
                <a:latin typeface="Arial" panose="020B0604020202020204" pitchFamily="34" charset="0"/>
                <a:cs typeface="Arial" panose="020B0604020202020204" pitchFamily="34" charset="0"/>
              </a:rPr>
              <a:t>Background: </a:t>
            </a:r>
            <a:r>
              <a:rPr lang="en-US" sz="1050" dirty="0">
                <a:latin typeface="Arial" panose="020B0604020202020204" pitchFamily="34" charset="0"/>
                <a:cs typeface="Arial" panose="020B0604020202020204" pitchFamily="34" charset="0"/>
              </a:rPr>
              <a:t>Sleep is an essential process. All mammals require sleep to live, but the realities of the modern world render occasional sleep disruption inevitable. This leads to cognitive deficits and health repercussions. The aim of this research is to determine what happens to neuronal firing patterns after sleep deprivation. Documenting these changes will help in determining what about sleep deprivation leads to poor health outcomes.</a:t>
            </a:r>
          </a:p>
          <a:p>
            <a:pPr algn="just"/>
            <a:endParaRPr lang="en-US" sz="1050" b="1" dirty="0">
              <a:latin typeface="Arial" panose="020B0604020202020204" pitchFamily="34" charset="0"/>
              <a:cs typeface="Arial" panose="020B0604020202020204" pitchFamily="34" charset="0"/>
            </a:endParaRPr>
          </a:p>
          <a:p>
            <a:pPr algn="just"/>
            <a:r>
              <a:rPr lang="en-US" sz="1050" b="1" dirty="0">
                <a:latin typeface="Arial" panose="020B0604020202020204" pitchFamily="34" charset="0"/>
                <a:cs typeface="Arial" panose="020B0604020202020204" pitchFamily="34" charset="0"/>
              </a:rPr>
              <a:t>Methods: </a:t>
            </a:r>
            <a:r>
              <a:rPr lang="en-US" sz="1050" dirty="0">
                <a:latin typeface="Arial" panose="020B0604020202020204" pitchFamily="34" charset="0"/>
                <a:cs typeface="Arial" panose="020B0604020202020204" pitchFamily="34" charset="0"/>
              </a:rPr>
              <a:t>One male mouse with a C57/BL6 background strain was subjected to a transcranial injection of a viral vector, causing it to express the fluorescent reporter GCaMP6f in CaMKII</a:t>
            </a:r>
            <a:r>
              <a:rPr lang="el-GR" sz="1050" dirty="0">
                <a:latin typeface="Arial" panose="020B0604020202020204" pitchFamily="34" charset="0"/>
                <a:cs typeface="Arial" panose="020B0604020202020204" pitchFamily="34" charset="0"/>
              </a:rPr>
              <a:t>α</a:t>
            </a:r>
            <a:r>
              <a:rPr lang="en-US" sz="1050" dirty="0">
                <a:latin typeface="Arial" panose="020B0604020202020204" pitchFamily="34" charset="0"/>
                <a:cs typeface="Arial" panose="020B0604020202020204" pitchFamily="34" charset="0"/>
              </a:rPr>
              <a:t> expressing cells of the medial prefrontal cortex. Additionally, Igs7</a:t>
            </a:r>
            <a:r>
              <a:rPr lang="en-US" sz="1050" baseline="30000" dirty="0">
                <a:latin typeface="Arial" panose="020B0604020202020204" pitchFamily="34" charset="0"/>
                <a:cs typeface="Arial" panose="020B0604020202020204" pitchFamily="34" charset="0"/>
              </a:rPr>
              <a:t>tm1(tetO-GCaMP8m,CAG-tTA2)Genie</a:t>
            </a:r>
            <a:r>
              <a:rPr lang="en-US" sz="1050" dirty="0">
                <a:latin typeface="Arial" panose="020B0604020202020204" pitchFamily="34" charset="0"/>
                <a:cs typeface="Arial" panose="020B0604020202020204" pitchFamily="34" charset="0"/>
              </a:rPr>
              <a:t> and B6.Cg-Tg(Camk2a-cre)T29-1Stl mice (both also on C57/BL6 backgrounds) were crossed to produce offspring with congenital expression of GCaMP8m in CaMKII</a:t>
            </a:r>
            <a:r>
              <a:rPr lang="el-GR" sz="1050" dirty="0">
                <a:latin typeface="Arial" panose="020B0604020202020204" pitchFamily="34" charset="0"/>
                <a:cs typeface="Arial" panose="020B0604020202020204" pitchFamily="34" charset="0"/>
              </a:rPr>
              <a:t>α</a:t>
            </a:r>
            <a:r>
              <a:rPr lang="en-US" sz="1050" dirty="0">
                <a:latin typeface="Arial" panose="020B0604020202020204" pitchFamily="34" charset="0"/>
                <a:cs typeface="Arial" panose="020B0604020202020204" pitchFamily="34" charset="0"/>
              </a:rPr>
              <a:t> expressing cells. Two females and one male from this pairing were used. These mice were allowed to reach 10 weeks of age before they had 1mm diameter gradient index (GRIN) lenses and electrodes for recording EEG and EMG implanted into their heads, with the lenses centered over the medial prefrontal cortex. After  a two-week recovery period and a three-day acclimation period in LD 12:12, simultaneous fluorescence and EEG were then recorded for each mouse for one hour at CT 6. The mice were then subjected to sleep-deprivation for 6 hours, and similar recordings were collected. A final recording was taken the following day to identify any lingering effects. The videos were then processed using IDPS to identify neurons, while the sleep stages were hand-scored from the EEG data using Serenia Sleep. Statistics on derived data were analyzed using Python and R. Analysis involved breaking the fluorescence traces into 10-second epochs aligned with the sleep scoring epochs and examining the nine epochs preceding a sleep/wake transition and the one after. The examination involved measuring event rate for all neurons and Pearson’s r for all neuron pairs in each epoch for each animal over every condition. Additionally, the pairwise correlations were split into tercile bins according to the distance between the cells.</a:t>
            </a:r>
          </a:p>
          <a:p>
            <a:pPr algn="just"/>
            <a:endParaRPr lang="en-US" sz="1050" dirty="0">
              <a:latin typeface="Arial" panose="020B0604020202020204" pitchFamily="34" charset="0"/>
              <a:cs typeface="Arial" panose="020B0604020202020204" pitchFamily="34" charset="0"/>
            </a:endParaRPr>
          </a:p>
          <a:p>
            <a:pPr algn="just"/>
            <a:r>
              <a:rPr lang="en-US" sz="1050" b="1" dirty="0">
                <a:latin typeface="Arial" panose="020B0604020202020204" pitchFamily="34" charset="0"/>
                <a:cs typeface="Arial" panose="020B0604020202020204" pitchFamily="34" charset="0"/>
              </a:rPr>
              <a:t>Results: </a:t>
            </a:r>
            <a:r>
              <a:rPr lang="en-US" sz="1050" dirty="0">
                <a:latin typeface="Arial" panose="020B0604020202020204" pitchFamily="34" charset="0"/>
                <a:cs typeface="Arial" panose="020B0604020202020204" pitchFamily="34" charset="0"/>
              </a:rPr>
              <a:t>The transgenic method resulted in faster and more consistent surgeries, but the viral method resulted in a cleaner signal.</a:t>
            </a:r>
            <a:r>
              <a:rPr lang="en-US" sz="1050" b="1" dirty="0">
                <a:latin typeface="Arial" panose="020B0604020202020204" pitchFamily="34" charset="0"/>
                <a:cs typeface="Arial" panose="020B0604020202020204" pitchFamily="34" charset="0"/>
              </a:rPr>
              <a:t> </a:t>
            </a:r>
            <a:r>
              <a:rPr lang="en-US" sz="1050" dirty="0">
                <a:latin typeface="Arial" panose="020B0604020202020204" pitchFamily="34" charset="0"/>
                <a:cs typeface="Arial" panose="020B0604020202020204" pitchFamily="34" charset="0"/>
              </a:rPr>
              <a:t>In the wake to NREM transitions,</a:t>
            </a:r>
            <a:r>
              <a:rPr lang="en-US" sz="1050" b="1" dirty="0">
                <a:latin typeface="Arial" panose="020B0604020202020204" pitchFamily="34" charset="0"/>
                <a:cs typeface="Arial" panose="020B0604020202020204" pitchFamily="34" charset="0"/>
              </a:rPr>
              <a:t> t</a:t>
            </a:r>
            <a:r>
              <a:rPr lang="en-US" sz="1050" dirty="0">
                <a:latin typeface="Arial" panose="020B0604020202020204" pitchFamily="34" charset="0"/>
                <a:cs typeface="Arial" panose="020B0604020202020204" pitchFamily="34" charset="0"/>
              </a:rPr>
              <a:t>he event rate tended to be higher after sleep-deprivation compared to baseline. Pairwise correlation for these transitions also tended to be higher after sleep-deprivation. Surprisingly, the far pairs had a bigger increase in correlation than the close pairs. No distinct trends across the 90-second analysis window appeared for any condition. More data is needed to achieve statistical significance.</a:t>
            </a:r>
            <a:endParaRPr lang="en-US" sz="1050" b="1" dirty="0">
              <a:latin typeface="Arial" panose="020B0604020202020204" pitchFamily="34" charset="0"/>
              <a:cs typeface="Arial" panose="020B0604020202020204" pitchFamily="34" charset="0"/>
            </a:endParaRPr>
          </a:p>
          <a:p>
            <a:pPr algn="just"/>
            <a:endParaRPr lang="en-US" sz="1050" b="1" dirty="0">
              <a:latin typeface="Arial" panose="020B0604020202020204" pitchFamily="34" charset="0"/>
              <a:cs typeface="Arial" panose="020B0604020202020204" pitchFamily="34" charset="0"/>
            </a:endParaRPr>
          </a:p>
          <a:p>
            <a:pPr algn="just"/>
            <a:r>
              <a:rPr lang="en-US" sz="1050" b="1" dirty="0">
                <a:latin typeface="Arial" panose="020B0604020202020204" pitchFamily="34" charset="0"/>
                <a:cs typeface="Arial" panose="020B0604020202020204" pitchFamily="34" charset="0"/>
              </a:rPr>
              <a:t>Conclusions:</a:t>
            </a:r>
            <a:r>
              <a:rPr lang="en-US" sz="1050" dirty="0">
                <a:latin typeface="Arial" panose="020B0604020202020204" pitchFamily="34" charset="0"/>
                <a:cs typeface="Arial" panose="020B0604020202020204" pitchFamily="34" charset="0"/>
              </a:rPr>
              <a:t> The transgenic animals had more reliable surgeries but had signal issues that likely resulted from a poorly-optimized reporter and signal contamination from distant cells. The transgenic method would be more efficient for future studies, and the downsides could be mitigated using a better reporter for the camera setup and two-photon imaging to reduce signal contamination. The increase in event rate and correlation were expected based on literature and validated the method. The larger increase for far pairs may indicate that sleep is initiated by distal regions rather than local networks. The lack of acute phenomena is likely an artifact of either low n or poorly optimized parameters (e.g., epoch length, window size). Overall, more research is needed and information to better continue this work is provided here.</a:t>
            </a:r>
            <a:endParaRPr lang="en-US" sz="1050" b="1" dirty="0">
              <a:latin typeface="Arial" panose="020B0604020202020204" pitchFamily="34" charset="0"/>
              <a:cs typeface="Arial" panose="020B0604020202020204" pitchFamily="34" charset="0"/>
            </a:endParaRPr>
          </a:p>
          <a:p>
            <a:pPr algn="just"/>
            <a:endParaRPr lang="en-US" sz="1100" b="1" dirty="0">
              <a:latin typeface="Arial" panose="020B0604020202020204" pitchFamily="34" charset="0"/>
              <a:cs typeface="Arial" panose="020B0604020202020204" pitchFamily="34" charset="0"/>
            </a:endParaRPr>
          </a:p>
          <a:p>
            <a:pPr marL="0" marR="429895" lvl="0" indent="0" algn="ctr" defTabSz="457200" rtl="0" eaLnBrk="1" fontAlgn="auto" latinLnBrk="0" hangingPunct="1">
              <a:lnSpc>
                <a:spcPct val="115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44061"/>
                </a:solidFill>
                <a:effectLst/>
                <a:uLnTx/>
                <a:uFillTx/>
                <a:latin typeface="Arial" panose="020B0604020202020204" pitchFamily="34" charset="0"/>
                <a:ea typeface="Times New Roman" panose="02020603050405020304" pitchFamily="18" charset="0"/>
                <a:cs typeface="Arial" panose="020B0604020202020204" pitchFamily="34" charset="0"/>
              </a:rPr>
              <a:t>FUNDING</a:t>
            </a:r>
            <a:endParaRPr kumimoji="0" lang="en-US" sz="1200" b="0" i="0" u="none" strike="noStrike" kern="1200" cap="none" spc="0" normalizeH="0" baseline="0" noProof="0" dirty="0">
              <a:ln>
                <a:noFill/>
              </a:ln>
              <a:solidFill>
                <a:srgbClr val="244061"/>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research was supported by National Institutes of Health (NIH) grants: NIH/NIGMS grant SC1GM112567 and NHLBI grant T32HL007901. </a:t>
            </a:r>
          </a:p>
          <a:p>
            <a:pPr algn="just"/>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93445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36914-012A-F96C-2F1A-4D6873F5371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BCC8617-88C4-47C7-3E2C-5DDE76863777}"/>
              </a:ext>
            </a:extLst>
          </p:cNvPr>
          <p:cNvSpPr/>
          <p:nvPr/>
        </p:nvSpPr>
        <p:spPr>
          <a:xfrm>
            <a:off x="278296" y="3485322"/>
            <a:ext cx="7089913" cy="4240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93CA452-5F29-DAF8-3A10-96949FA30A8C}"/>
              </a:ext>
            </a:extLst>
          </p:cNvPr>
          <p:cNvSpPr txBox="1"/>
          <p:nvPr/>
        </p:nvSpPr>
        <p:spPr>
          <a:xfrm>
            <a:off x="139148" y="1320068"/>
            <a:ext cx="7494104" cy="7377404"/>
          </a:xfrm>
          <a:prstGeom prst="rect">
            <a:avLst/>
          </a:prstGeom>
          <a:noFill/>
        </p:spPr>
        <p:txBody>
          <a:bodyPr wrap="square">
            <a:spAutoFit/>
          </a:bodyPr>
          <a:lstStyle/>
          <a:p>
            <a:pPr marL="0" marR="429895" algn="ctr">
              <a:lnSpc>
                <a:spcPct val="115000"/>
              </a:lnSpc>
              <a:spcBef>
                <a:spcPts val="0"/>
              </a:spcBef>
              <a:spcAft>
                <a:spcPts val="0"/>
              </a:spcAft>
            </a:pPr>
            <a:r>
              <a:rPr lang="en-US" b="1" dirty="0">
                <a:solidFill>
                  <a:srgbClr val="244061"/>
                </a:solidFill>
                <a:latin typeface="Arial" panose="020B0604020202020204" pitchFamily="34" charset="0"/>
                <a:ea typeface="Times New Roman" panose="02020603050405020304" pitchFamily="18" charset="0"/>
                <a:cs typeface="Arial" panose="020B0604020202020204" pitchFamily="34" charset="0"/>
              </a:rPr>
              <a:t>DEDICATION &amp; ACKNOWLEDGEMENTS</a:t>
            </a:r>
            <a:endParaRPr lang="en-US" b="1" dirty="0">
              <a:solidFill>
                <a:srgbClr val="244061"/>
              </a:solidFill>
              <a:effectLst/>
              <a:latin typeface="Arial" panose="020B0604020202020204" pitchFamily="34" charset="0"/>
              <a:ea typeface="Times New Roman" panose="02020603050405020304" pitchFamily="18" charset="0"/>
              <a:cs typeface="Arial" panose="020B0604020202020204" pitchFamily="34" charset="0"/>
            </a:endParaRPr>
          </a:p>
          <a:p>
            <a:pPr marL="0" marR="429895" algn="just">
              <a:lnSpc>
                <a:spcPct val="115000"/>
              </a:lnSpc>
              <a:spcBef>
                <a:spcPts val="0"/>
              </a:spcBef>
              <a:spcAft>
                <a:spcPts val="0"/>
              </a:spcAft>
            </a:pPr>
            <a:r>
              <a:rPr lang="en-US" sz="900" dirty="0">
                <a:effectLst/>
                <a:latin typeface="Arial" panose="020B0604020202020204" pitchFamily="34" charset="0"/>
                <a:ea typeface="Times New Roman" panose="02020603050405020304" pitchFamily="18" charset="0"/>
                <a:cs typeface="Arial" panose="020B0604020202020204" pitchFamily="34" charset="0"/>
              </a:rPr>
              <a:t>To my parents, who provided unwavering emotional support, sage advice through every challenge and supported me throughout the entire evolution of this project.</a:t>
            </a:r>
          </a:p>
          <a:p>
            <a:pPr algn="just"/>
            <a:endParaRPr lang="en-US" sz="900" dirty="0">
              <a:latin typeface="Arial" panose="020B0604020202020204" pitchFamily="34" charset="0"/>
              <a:cs typeface="Arial" panose="020B0604020202020204" pitchFamily="34" charset="0"/>
            </a:endParaRPr>
          </a:p>
          <a:p>
            <a:pPr algn="just"/>
            <a:r>
              <a:rPr lang="en-US" sz="900" dirty="0">
                <a:latin typeface="Arial" panose="020B0604020202020204" pitchFamily="34" charset="0"/>
                <a:cs typeface="Arial" panose="020B0604020202020204" pitchFamily="34" charset="0"/>
              </a:rPr>
              <a:t>I owe a profound debt of gratitude to the people below, whose generosity, expertise, and good humor carried this work across the finish line:</a:t>
            </a:r>
          </a:p>
          <a:p>
            <a:pPr algn="just"/>
            <a:endParaRPr lang="en-US" sz="900" dirty="0">
              <a:latin typeface="Arial" panose="020B0604020202020204" pitchFamily="34" charset="0"/>
              <a:cs typeface="Arial" panose="020B0604020202020204" pitchFamily="34" charset="0"/>
            </a:endParaRPr>
          </a:p>
          <a:p>
            <a:pPr algn="just"/>
            <a:r>
              <a:rPr lang="en-US" sz="900" b="1" dirty="0">
                <a:latin typeface="Arial" panose="020B0604020202020204" pitchFamily="34" charset="0"/>
                <a:cs typeface="Arial" panose="020B0604020202020204" pitchFamily="34" charset="0"/>
              </a:rPr>
              <a:t>Advisory Committee: </a:t>
            </a:r>
            <a:r>
              <a:rPr lang="en-US" sz="900" dirty="0">
                <a:latin typeface="Arial" panose="020B0604020202020204" pitchFamily="34" charset="0"/>
                <a:cs typeface="Arial" panose="020B0604020202020204" pitchFamily="34" charset="0"/>
              </a:rPr>
              <a:t>Thank you to my committee for your time, expertise, and the many ways you sharpened this work.</a:t>
            </a:r>
          </a:p>
          <a:p>
            <a:pPr algn="just"/>
            <a:r>
              <a:rPr lang="en-US" sz="900" b="1" dirty="0">
                <a:latin typeface="Arial" panose="020B0604020202020204" pitchFamily="34" charset="0"/>
                <a:cs typeface="Arial" panose="020B0604020202020204" pitchFamily="34" charset="0"/>
              </a:rPr>
              <a:t>Alec Davidson (PhD, Advisor/PI)</a:t>
            </a:r>
            <a:r>
              <a:rPr lang="en-US" sz="900" dirty="0">
                <a:latin typeface="Arial" panose="020B0604020202020204" pitchFamily="34" charset="0"/>
                <a:cs typeface="Arial" panose="020B0604020202020204" pitchFamily="34" charset="0"/>
              </a:rPr>
              <a:t>:</a:t>
            </a:r>
            <a:r>
              <a:rPr lang="en-US" sz="900" b="1" dirty="0">
                <a:latin typeface="Arial" panose="020B0604020202020204" pitchFamily="34" charset="0"/>
                <a:cs typeface="Arial" panose="020B0604020202020204" pitchFamily="34" charset="0"/>
              </a:rPr>
              <a:t> </a:t>
            </a:r>
            <a:r>
              <a:rPr lang="en-US" sz="900" dirty="0">
                <a:latin typeface="Arial" panose="020B0604020202020204" pitchFamily="34" charset="0"/>
                <a:cs typeface="Arial" panose="020B0604020202020204" pitchFamily="34" charset="0"/>
              </a:rPr>
              <a:t>Thank you for your invaluable mentorship, which has been instrumental in shaping the foundational skillsets for my future career. Your support and encouragement have made all the difference. Your breadth of expertise and remarkable adaptability have been a continual source of inspiration, motivating me to continue looking at problems from many angles moving forward.</a:t>
            </a:r>
          </a:p>
          <a:p>
            <a:pPr algn="just"/>
            <a:r>
              <a:rPr lang="en-US" sz="900" b="1" dirty="0">
                <a:latin typeface="Arial" panose="020B0604020202020204" pitchFamily="34" charset="0"/>
                <a:cs typeface="Arial" panose="020B0604020202020204" pitchFamily="34" charset="0"/>
              </a:rPr>
              <a:t>Chris Ehlen (PhD)</a:t>
            </a:r>
            <a:r>
              <a:rPr lang="en-US" sz="900" dirty="0">
                <a:latin typeface="Arial" panose="020B0604020202020204" pitchFamily="34" charset="0"/>
                <a:cs typeface="Arial" panose="020B0604020202020204" pitchFamily="34" charset="0"/>
              </a:rPr>
              <a:t>:</a:t>
            </a:r>
            <a:r>
              <a:rPr lang="en-US" sz="900" b="1" dirty="0">
                <a:latin typeface="Arial" panose="020B0604020202020204" pitchFamily="34" charset="0"/>
                <a:cs typeface="Arial" panose="020B0604020202020204" pitchFamily="34" charset="0"/>
              </a:rPr>
              <a:t> </a:t>
            </a:r>
            <a:r>
              <a:rPr lang="en-US" sz="900" dirty="0">
                <a:latin typeface="Arial" panose="020B0604020202020204" pitchFamily="34" charset="0"/>
                <a:cs typeface="Arial" panose="020B0604020202020204" pitchFamily="34" charset="0"/>
              </a:rPr>
              <a:t>Thank you for serving as an unofficial second mentor throughout this project. You weren't always the loudest voice in the room, but when you spoke up, it was worth the wait, your insights had a way of reframing things right when I needed it. Beyond the science, your easygoing nature and sense of humor made the long hours in lab a lot more enjoyable.</a:t>
            </a:r>
          </a:p>
          <a:p>
            <a:pPr algn="just"/>
            <a:r>
              <a:rPr lang="en-US" sz="900" b="1" dirty="0">
                <a:latin typeface="Arial" panose="020B0604020202020204" pitchFamily="34" charset="0"/>
                <a:cs typeface="Arial" panose="020B0604020202020204" pitchFamily="34" charset="0"/>
              </a:rPr>
              <a:t>Morris Benveniste (PhD)</a:t>
            </a:r>
            <a:r>
              <a:rPr lang="en-US" sz="900" dirty="0">
                <a:latin typeface="Arial" panose="020B0604020202020204" pitchFamily="34" charset="0"/>
                <a:cs typeface="Arial" panose="020B0604020202020204" pitchFamily="34" charset="0"/>
              </a:rPr>
              <a:t>:</a:t>
            </a:r>
            <a:r>
              <a:rPr lang="en-US" sz="900" b="1" dirty="0">
                <a:latin typeface="Arial" panose="020B0604020202020204" pitchFamily="34" charset="0"/>
                <a:cs typeface="Arial" panose="020B0604020202020204" pitchFamily="34" charset="0"/>
              </a:rPr>
              <a:t> </a:t>
            </a:r>
            <a:r>
              <a:rPr lang="en-US" sz="900" dirty="0">
                <a:latin typeface="Arial" panose="020B0604020202020204" pitchFamily="34" charset="0"/>
                <a:cs typeface="Arial" panose="020B0604020202020204" pitchFamily="34" charset="0"/>
              </a:rPr>
              <a:t>Thank you for bringing your deep expertise in neuroscience and electrophysiology to this project, and for the genuine enthusiasm for teaching that came through in every interaction. Your incisive feedback consistently caught inaccuracies and imprecise framing that I'd otherwise have missed, and working through those corrections sharpened both this thesis and how I think about scientific writing more broadly.</a:t>
            </a:r>
          </a:p>
          <a:p>
            <a:pPr algn="just"/>
            <a:r>
              <a:rPr lang="en-US" sz="900" b="1" dirty="0">
                <a:latin typeface="Arial" panose="020B0604020202020204" pitchFamily="34" charset="0"/>
                <a:cs typeface="Arial" panose="020B0604020202020204" pitchFamily="34" charset="0"/>
              </a:rPr>
              <a:t>Jenn Evans (PhD, Marquette University)</a:t>
            </a:r>
            <a:r>
              <a:rPr lang="en-US" sz="900" dirty="0">
                <a:latin typeface="Arial" panose="020B0604020202020204" pitchFamily="34" charset="0"/>
                <a:cs typeface="Arial" panose="020B0604020202020204" pitchFamily="34" charset="0"/>
              </a:rPr>
              <a:t>:</a:t>
            </a:r>
            <a:r>
              <a:rPr lang="en-US" sz="900" b="1" dirty="0">
                <a:latin typeface="Arial" panose="020B0604020202020204" pitchFamily="34" charset="0"/>
                <a:cs typeface="Arial" panose="020B0604020202020204" pitchFamily="34" charset="0"/>
              </a:rPr>
              <a:t> </a:t>
            </a:r>
            <a:r>
              <a:rPr lang="en-US" sz="900" dirty="0">
                <a:latin typeface="Arial" panose="020B0604020202020204" pitchFamily="34" charset="0"/>
                <a:cs typeface="Arial" panose="020B0604020202020204" pitchFamily="34" charset="0"/>
              </a:rPr>
              <a:t>Thank you for the many conversations we've had over the years, especially at conferences, which were some of the most genuinely enjoyable parts of this whole process. Your input was instrumental in shaping the design of this study, including advocating for the study of both sexes, a change that strengthened this work considerably. Beyond the science, your organization, professionalism, and proactive approach are qualities I've aspired to throughout this project, and I'm grateful to have had someone like you to look up to along the way.</a:t>
            </a:r>
          </a:p>
          <a:p>
            <a:pPr algn="just"/>
            <a:r>
              <a:rPr lang="en-US" sz="900" b="1" dirty="0">
                <a:latin typeface="Arial" panose="020B0604020202020204" pitchFamily="34" charset="0"/>
                <a:cs typeface="Arial" panose="020B0604020202020204" pitchFamily="34" charset="0"/>
              </a:rPr>
              <a:t>Radhika Basheer (PhD, Harvard Medical School)</a:t>
            </a:r>
            <a:r>
              <a:rPr lang="en-US" sz="900" dirty="0">
                <a:latin typeface="Arial" panose="020B0604020202020204" pitchFamily="34" charset="0"/>
                <a:cs typeface="Arial" panose="020B0604020202020204" pitchFamily="34" charset="0"/>
              </a:rPr>
              <a:t>: Thank you for the consistently creative perspective you brought to this project. Your suggestions often approached problems from an angle no one else on the committee had considered, and I was struck every time by how engaged and supportive you stayed, both with the science and with me as a student, throughout our committee meetings.</a:t>
            </a:r>
          </a:p>
          <a:p>
            <a:pPr algn="just"/>
            <a:endParaRPr lang="en-US" sz="900" dirty="0">
              <a:latin typeface="Arial" panose="020B0604020202020204" pitchFamily="34" charset="0"/>
              <a:cs typeface="Arial" panose="020B0604020202020204" pitchFamily="34" charset="0"/>
            </a:endParaRPr>
          </a:p>
          <a:p>
            <a:pPr algn="just"/>
            <a:r>
              <a:rPr lang="en-US" sz="900" b="1" dirty="0">
                <a:latin typeface="Arial" panose="020B0604020202020204" pitchFamily="34" charset="0"/>
                <a:cs typeface="Arial" panose="020B0604020202020204" pitchFamily="34" charset="0"/>
              </a:rPr>
              <a:t>Adam </a:t>
            </a:r>
            <a:r>
              <a:rPr lang="en-US" sz="900" b="1" dirty="0" err="1">
                <a:latin typeface="Arial" panose="020B0604020202020204" pitchFamily="34" charset="0"/>
                <a:cs typeface="Arial" panose="020B0604020202020204" pitchFamily="34" charset="0"/>
              </a:rPr>
              <a:t>Stowie</a:t>
            </a:r>
            <a:r>
              <a:rPr lang="en-US" sz="900" b="1" dirty="0">
                <a:latin typeface="Arial" panose="020B0604020202020204" pitchFamily="34" charset="0"/>
                <a:cs typeface="Arial" panose="020B0604020202020204" pitchFamily="34" charset="0"/>
              </a:rPr>
              <a:t> (PhD)</a:t>
            </a:r>
            <a:r>
              <a:rPr lang="en-US" sz="900" dirty="0">
                <a:latin typeface="Arial" panose="020B0604020202020204" pitchFamily="34" charset="0"/>
                <a:cs typeface="Arial" panose="020B0604020202020204" pitchFamily="34" charset="0"/>
              </a:rPr>
              <a:t>: Thank you for the countless hours you spent training me on surgery and recordings from the very beginning. You were patient with every mistake I made along the way, even when I was too intimidated to admit how lost I sometimes felt. Looking back, that early training shaped nearly everything I went on to do in this project. Wishing you, Dani, and your little one all the best.</a:t>
            </a:r>
          </a:p>
          <a:p>
            <a:pPr algn="just"/>
            <a:endParaRPr lang="en-US" sz="900" dirty="0">
              <a:latin typeface="Arial" panose="020B0604020202020204" pitchFamily="34" charset="0"/>
              <a:cs typeface="Arial" panose="020B0604020202020204" pitchFamily="34" charset="0"/>
            </a:endParaRPr>
          </a:p>
          <a:p>
            <a:pPr algn="just"/>
            <a:r>
              <a:rPr lang="en-US" sz="900" b="1" dirty="0">
                <a:latin typeface="Arial" panose="020B0604020202020204" pitchFamily="34" charset="0"/>
                <a:cs typeface="Arial" panose="020B0604020202020204" pitchFamily="34" charset="0"/>
              </a:rPr>
              <a:t>Davidson Lab Members</a:t>
            </a:r>
            <a:r>
              <a:rPr lang="en-US" sz="900" dirty="0">
                <a:latin typeface="Arial" panose="020B0604020202020204" pitchFamily="34" charset="0"/>
                <a:cs typeface="Arial" panose="020B0604020202020204" pitchFamily="34" charset="0"/>
              </a:rPr>
              <a:t>: Thank you to Arena Jackson (PhD), Derek Homrich, and Derek Camacho for your insights and advice at every stage of this project, and for stepping in to run experiments and care for my animals whenever I couldn't. Arena, your warmth and positivity made even the longest days in lab feel lighter. Derek H., your thoughtfulness and rigor were a steadying presence, and I learned a lot from the way you approach problems. Derek C., thank you for the years of friendship and the chaos you brought to lab life in equal measure — it was never boring.</a:t>
            </a:r>
          </a:p>
          <a:p>
            <a:pPr algn="just"/>
            <a:endParaRPr lang="en-US" sz="900" dirty="0">
              <a:latin typeface="Arial" panose="020B0604020202020204" pitchFamily="34" charset="0"/>
              <a:cs typeface="Arial" panose="020B0604020202020204" pitchFamily="34" charset="0"/>
            </a:endParaRPr>
          </a:p>
          <a:p>
            <a:pPr algn="just"/>
            <a:r>
              <a:rPr lang="en-US" sz="900" b="1" dirty="0">
                <a:latin typeface="Arial" panose="020B0604020202020204" pitchFamily="34" charset="0"/>
                <a:cs typeface="Arial" panose="020B0604020202020204" pitchFamily="34" charset="0"/>
              </a:rPr>
              <a:t>Ehlen Lab Members</a:t>
            </a:r>
            <a:r>
              <a:rPr lang="en-US" sz="900" dirty="0">
                <a:latin typeface="Arial" panose="020B0604020202020204" pitchFamily="34" charset="0"/>
                <a:cs typeface="Arial" panose="020B0604020202020204" pitchFamily="34" charset="0"/>
              </a:rPr>
              <a:t>: Thank you to the members of Chris Ehlen's lab, who were always ready to lend a hand, answer a question, or talk through a problem with my project. Y'all trained me in sleep scoring and EEG pinout assembly, and much of the hardware that made this work possible came from your lab as well. </a:t>
            </a:r>
            <a:r>
              <a:rPr lang="en-US" sz="900" dirty="0" err="1">
                <a:latin typeface="Arial" panose="020B0604020202020204" pitchFamily="34" charset="0"/>
                <a:cs typeface="Arial" panose="020B0604020202020204" pitchFamily="34" charset="0"/>
              </a:rPr>
              <a:t>Zhimei</a:t>
            </a:r>
            <a:r>
              <a:rPr lang="en-US" sz="900" dirty="0">
                <a:latin typeface="Arial" panose="020B0604020202020204" pitchFamily="34" charset="0"/>
                <a:cs typeface="Arial" panose="020B0604020202020204" pitchFamily="34" charset="0"/>
              </a:rPr>
              <a:t> Qiao (PhD) and Brittany Bush trained me on EEG and EMG implantation, and Ashton Arocho was a regular source of good conversation — about science and otherwise — that I always looked forward to.</a:t>
            </a:r>
          </a:p>
          <a:p>
            <a:pPr algn="just"/>
            <a:r>
              <a:rPr lang="en-US" sz="900" b="1" dirty="0">
                <a:latin typeface="Arial" panose="020B0604020202020204" pitchFamily="34" charset="0"/>
                <a:cs typeface="Arial" panose="020B0604020202020204" pitchFamily="34" charset="0"/>
              </a:rPr>
              <a:t>Eva-Jeneé Andrews Sebastian (PhD)</a:t>
            </a:r>
            <a:r>
              <a:rPr lang="en-US" sz="900" dirty="0">
                <a:latin typeface="Arial" panose="020B0604020202020204" pitchFamily="34" charset="0"/>
                <a:cs typeface="Arial" panose="020B0604020202020204" pitchFamily="34" charset="0"/>
              </a:rPr>
              <a:t>: Special thanks to her, as she started this program alongside me and recently graduated herself. We got each other through the early days of the pandemic, studying together when almost nothing else felt normal, and I'm grateful for that friendship from the very start.</a:t>
            </a:r>
          </a:p>
          <a:p>
            <a:pPr algn="just"/>
            <a:r>
              <a:rPr lang="en-US" sz="900" b="1" dirty="0">
                <a:latin typeface="Arial" panose="020B0604020202020204" pitchFamily="34" charset="0"/>
                <a:cs typeface="Arial" panose="020B0604020202020204" pitchFamily="34" charset="0"/>
              </a:rPr>
              <a:t>Louis Sanchez</a:t>
            </a:r>
            <a:r>
              <a:rPr lang="en-US" sz="900" dirty="0">
                <a:latin typeface="Arial" panose="020B0604020202020204" pitchFamily="34" charset="0"/>
                <a:cs typeface="Arial" panose="020B0604020202020204" pitchFamily="34" charset="0"/>
              </a:rPr>
              <a:t>: Thank you for taking on the sleep scoring for this project. That work was foundational to everything downstream, and I'm grateful for the time and care you put into it.</a:t>
            </a:r>
          </a:p>
          <a:p>
            <a:pPr algn="just"/>
            <a:endParaRPr lang="en-US" sz="900" dirty="0">
              <a:latin typeface="Arial" panose="020B0604020202020204" pitchFamily="34" charset="0"/>
              <a:cs typeface="Arial" panose="020B0604020202020204" pitchFamily="34" charset="0"/>
            </a:endParaRPr>
          </a:p>
          <a:p>
            <a:pPr algn="just"/>
            <a:r>
              <a:rPr lang="en-US" sz="900" b="1" dirty="0" err="1">
                <a:latin typeface="Arial" panose="020B0604020202020204" pitchFamily="34" charset="0"/>
                <a:cs typeface="Arial" panose="020B0604020202020204" pitchFamily="34" charset="0"/>
              </a:rPr>
              <a:t>Inscopix</a:t>
            </a:r>
            <a:r>
              <a:rPr lang="en-US" sz="900" b="1" dirty="0">
                <a:latin typeface="Arial" panose="020B0604020202020204" pitchFamily="34" charset="0"/>
                <a:cs typeface="Arial" panose="020B0604020202020204" pitchFamily="34" charset="0"/>
              </a:rPr>
              <a:t> Technical Support</a:t>
            </a:r>
            <a:r>
              <a:rPr lang="en-US" sz="900" dirty="0">
                <a:latin typeface="Arial" panose="020B0604020202020204" pitchFamily="34" charset="0"/>
                <a:cs typeface="Arial" panose="020B0604020202020204" pitchFamily="34" charset="0"/>
              </a:rPr>
              <a:t>: Thank you to scientific consultants Vardhan Dani, PhD and Waylin Yu, PhD for your patience and persistence in troubleshooting the imaging setup during a critical phase of data collection. Your responsiveness turned what could have been a major setback into a minor delay, and I'm grateful for the expertise you brought to the table.</a:t>
            </a:r>
          </a:p>
          <a:p>
            <a:pPr algn="just"/>
            <a:r>
              <a:rPr lang="en-US" sz="900" dirty="0">
                <a:latin typeface="Arial" panose="020B0604020202020204" pitchFamily="34" charset="0"/>
                <a:cs typeface="Arial" panose="020B0604020202020204" pitchFamily="34" charset="0"/>
              </a:rPr>
              <a:t>Animal Resources &amp; Core Facilities: Thank you to CLAR and its staff for outstanding animal care throughout this project. Special thanks to Venus Moore, Facility Manager, for helping us make things work every single time something didn't go as expected. </a:t>
            </a:r>
          </a:p>
        </p:txBody>
      </p:sp>
    </p:spTree>
    <p:extLst>
      <p:ext uri="{BB962C8B-B14F-4D97-AF65-F5344CB8AC3E}">
        <p14:creationId xmlns:p14="http://schemas.microsoft.com/office/powerpoint/2010/main" val="6765556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16849</TotalTime>
  <Words>2270</Words>
  <Application>Microsoft Office PowerPoint</Application>
  <PresentationFormat>Custom</PresentationFormat>
  <Paragraphs>130</Paragraphs>
  <Slides>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Aril</vt: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Rose, Matthew</dc:creator>
  <cp:lastModifiedBy>Beckner, Delaney M</cp:lastModifiedBy>
  <cp:revision>32</cp:revision>
  <dcterms:created xsi:type="dcterms:W3CDTF">2025-02-25T13:22:12Z</dcterms:created>
  <dcterms:modified xsi:type="dcterms:W3CDTF">2026-06-15T18:37:24Z</dcterms:modified>
</cp:coreProperties>
</file>